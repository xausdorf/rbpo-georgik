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13d6305efe48d8" /><Relationship Type="http://schemas.openxmlformats.org/officeDocument/2006/relationships/extended-properties" Target="/docProps/app.xml" Id="R2d5359c79c374ea9" /><Relationship Type="http://schemas.openxmlformats.org/officeDocument/2006/relationships/officeDocument" Target="/ppt/presentation.xml" Id="R661410436e21445f" /></Relationships>
</file>

<file path=ppt/presentation.xml><?xml version="1.0" encoding="utf-8"?>
<p:presentation xmlns:p="http://schemas.openxmlformats.org/presentationml/2006/main">
  <p:sldMasterIdLst>
    <p:sldMasterId xmlns:r="http://schemas.openxmlformats.org/officeDocument/2006/relationships" id="2147483648" r:id="Rd0de138984a8402c"/>
  </p:sldMasterIdLst>
  <p:notesMasterIdLst>
    <p:notesMasterId xmlns:r="http://schemas.openxmlformats.org/officeDocument/2006/relationships" r:id="Rf3c4729fd7b54105"/>
  </p:notesMasterIdLst>
  <p:sldIdLst>
    <p:sldId xmlns:r="http://schemas.openxmlformats.org/officeDocument/2006/relationships" id="256" r:id="R3aa1f519631840de"/>
    <p:sldId xmlns:r="http://schemas.openxmlformats.org/officeDocument/2006/relationships" id="257" r:id="R1f0e82dbeef44911"/>
    <p:sldId xmlns:r="http://schemas.openxmlformats.org/officeDocument/2006/relationships" id="258" r:id="Rfa5cafc5f92a46fa"/>
    <p:sldId xmlns:r="http://schemas.openxmlformats.org/officeDocument/2006/relationships" id="259" r:id="R11fad37e89e1488b"/>
    <p:sldId xmlns:r="http://schemas.openxmlformats.org/officeDocument/2006/relationships" id="260" r:id="R5fc171c913b240f7"/>
    <p:sldId xmlns:r="http://schemas.openxmlformats.org/officeDocument/2006/relationships" id="261" r:id="Re00da2ea70cc47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cb0d736292404b" /><Relationship Type="http://schemas.openxmlformats.org/officeDocument/2006/relationships/slideMaster" Target="/ppt/slideMasters/slideMaster1.xml" Id="Rd0de138984a8402c" /><Relationship Type="http://schemas.openxmlformats.org/officeDocument/2006/relationships/notesMaster" Target="/ppt/notesMasters/notesMaster1.xml" Id="Rf3c4729fd7b54105" /><Relationship Type="http://schemas.openxmlformats.org/officeDocument/2006/relationships/presProps" Target="/ppt/presProps.xml" Id="Rcd5df4dc553247a5" /><Relationship Type="http://schemas.openxmlformats.org/officeDocument/2006/relationships/tableStyles" Target="/ppt/tableStyles.xml" Id="Rfe754225d9bf474a" /><Relationship Type="http://schemas.openxmlformats.org/officeDocument/2006/relationships/slide" Target="/ppt/slides/slide1.xml" Id="R3aa1f519631840de" /><Relationship Type="http://schemas.openxmlformats.org/officeDocument/2006/relationships/slide" Target="/ppt/slides/slide2.xml" Id="R1f0e82dbeef44911" /><Relationship Type="http://schemas.openxmlformats.org/officeDocument/2006/relationships/slide" Target="/ppt/slides/slide3.xml" Id="Rfa5cafc5f92a46fa" /><Relationship Type="http://schemas.openxmlformats.org/officeDocument/2006/relationships/slide" Target="/ppt/slides/slide4.xml" Id="R11fad37e89e1488b" /><Relationship Type="http://schemas.openxmlformats.org/officeDocument/2006/relationships/slide" Target="/ppt/slides/slide5.xml" Id="R5fc171c913b240f7" /><Relationship Type="http://schemas.openxmlformats.org/officeDocument/2006/relationships/slide" Target="/ppt/slides/slide6.xml" Id="Re00da2ea70cc47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89ae8ad2914f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9dc1da1a54447d" /><Relationship Type="http://schemas.openxmlformats.org/officeDocument/2006/relationships/notesMaster" Target="/ppt/notesMasters/notesMaster1.xml" Id="R31b321d8051146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ca5c9eda10489e" /><Relationship Type="http://schemas.openxmlformats.org/officeDocument/2006/relationships/notesMaster" Target="/ppt/notesMasters/notesMaster1.xml" Id="Re5e16710bb3448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837f4e0d294814" /><Relationship Type="http://schemas.openxmlformats.org/officeDocument/2006/relationships/notesMaster" Target="/ppt/notesMasters/notesMaster1.xml" Id="R2e41efe3063c4e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9db4659c124c67" /><Relationship Type="http://schemas.openxmlformats.org/officeDocument/2006/relationships/notesMaster" Target="/ppt/notesMasters/notesMaster1.xml" Id="R690a6e5cd89f49f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7539d10ff4d95" /><Relationship Type="http://schemas.openxmlformats.org/officeDocument/2006/relationships/notesMaster" Target="/ppt/notesMasters/notesMaster1.xml" Id="R13d8237a971b4d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c5e219ad6e47f4" /><Relationship Type="http://schemas.openxmlformats.org/officeDocument/2006/relationships/notesMaster" Target="/ppt/notesMasters/notesMaster1.xml" Id="Rec39eae2157e45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Уже реализованы вход с JWT, серверные роли и запрет по умолчанию — часть D-02. Основные сценарии доставки, D-01 и D-03 пока планируются.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1: 45 секунд.</a:t>
            </a:r>
          </a:p>
          <a:p xmlns:a="http://schemas.openxmlformats.org/drawingml/2006/main">
            <a:r>
              <a:t>Источники: PROJECT.md и docs/ek1-defense.md в версии этой презентации.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Уже реализованы вход с JWT, серверные роли и запрет по умолчанию — часть D-02. Основные сценарии доставки, D-01 и D-03 пока планируются.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2: 45 секунд, включая запрос /health. На 8bd283035fb4ebfa4d09863ce44514b154506be2 подтверждены сборка, шесть тестов конфигурации и согласованность EF-модели с миграцией. Полный прогон и контейнерное демо от 05.10 не выполнены из-за сбоя Docker; перед защитой повторить демо на сдаваемой версии.</a:t>
            </a:r>
          </a:p>
          <a:p xmlns:a="http://schemas.openxmlformats.org/drawingml/2006/main">
            <a:r>
              <a:t>Источники: README и docs/ek1-verification.md в версии этой презентации. Прогон семи тестов на bfbadec — исторический, до PR №2; вход и роли из этого PR уже включены в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3: 45 секунд.</a:t>
            </a:r>
          </a:p>
          <a:p xmlns:a="http://schemas.openxmlformats.org/drawingml/2006/main">
            <a:r>
              <a:t>Источник: docs/threat-model.md, TB-1–TB-3; docs/security-requirements.md, SR-08. Архитектура предметных процессов является планом.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4: 45 секунд.</a:t>
            </a:r>
          </a:p>
          <a:p xmlns:a="http://schemas.openxmlformats.org/drawingml/2006/main">
            <a:r>
              <a:t>Источники: docs/design-decisions.md, D-01/D-02; docs/threat-model.md, приоритетный набор T-01, T-02, T-03, T-06, T-10. Проверка: два отправителя и два курьера, свой/чужой/завершённый объект. В main эти механизмы пока не реализованы.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для постоянного показа кода сервер расшифровывает его для владельца. Если разработчик добавит открытый код в общую модель карточки и вернёт эту модель диспетчеру, код утечёт, хотя в базе он зашифрован. Одна копия базы без ключа его не раскрывает. Мы выбрали HMAC с одноразовым показом, убрав повторную расшифровку для карточки и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5: 45 секунд.</a:t>
            </a:r>
          </a:p>
          <a:p xmlns:a="http://schemas.openxmlformats.org/drawingml/2006/main">
            <a:r>
              <a:t>Источник: docs/design-decisions.md, D-03; docs/security-requirements.md, SR-06/SR-07. Код не сохраняется в открытом виде. Сравнение HMAC выполняется за постоянное время. D-03 пока не реализован.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для постоянного показа кода сервер расшифровывает его для владельца. Если разработчик добавит открытый код в общую модель карточки и вернёт эту модель диспетчеру, код утечёт, хотя в базе он зашифрован. Одна копия базы без ключа его не раскрывает. Мы выбрали HMAC с одноразовым показом, убрав повторную расшифровку для карточки и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6: 45 секунд.</a:t>
            </a:r>
          </a:p>
          <a:p xmlns:a="http://schemas.openxmlformats.org/drawingml/2006/main">
            <a:r>
              <a:t>Источник: docs/design-decisions.md, альтернативы и контрпример D-03, будущие проверки 3/4/7/8. Статус, попытки и событие планируем фиксировать одной транзакцией с xmin. Будущие проверки не являются проведёнными тестами.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b5a66fe7e046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28ecb62a8b4af0" /><Relationship Type="http://schemas.openxmlformats.org/officeDocument/2006/relationships/slideLayout" Target="/ppt/slideLayouts/slideLayout1.xml" Id="R38d043139fd246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d043139fd246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7718ad92344b69" /><Relationship Type="http://schemas.openxmlformats.org/officeDocument/2006/relationships/notesSlide" Target="/ppt/notesSlides/notesSlide1.xml" Id="R12f682129fde49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87cec1d3d14454" /><Relationship Type="http://schemas.openxmlformats.org/officeDocument/2006/relationships/image" Target="/ppt/media/image.jpeg" Id="Ra27cc38b3ffc4d25" /><Relationship Type="http://schemas.openxmlformats.org/officeDocument/2006/relationships/notesSlide" Target="/ppt/notesSlides/notesSlide2.xml" Id="Rd540442749e54c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a58f7741fc4337" /><Relationship Type="http://schemas.openxmlformats.org/officeDocument/2006/relationships/notesSlide" Target="/ppt/notesSlides/notesSlide3.xml" Id="Ra68f81697bd64d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514e8132804102" /><Relationship Type="http://schemas.openxmlformats.org/officeDocument/2006/relationships/notesSlide" Target="/ppt/notesSlides/notesSlide4.xml" Id="Rdbddbf47582e4e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0118ccd7384cdd" /><Relationship Type="http://schemas.openxmlformats.org/officeDocument/2006/relationships/notesSlide" Target="/ppt/notesSlides/notesSlide5.xml" Id="Rb8924e4304274c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6f1f980c734390" /><Relationship Type="http://schemas.openxmlformats.org/officeDocument/2006/relationships/notesSlide" Target="/ppt/notesSlides/notesSlide6.xml" Id="R9498c54c3daa415a" /></Relationships>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64032C5-3147-4AAB-9F8F-DE3EDD99854A}"/>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GetFast</a:t>
            </a:r>
          </a:p>
        </p:txBody>
      </p:sp>
      <p:sp>
        <p:nvSpPr>
          <p:cNvPr id="2" name="">
            <a:extLst xmlns:a="http://schemas.openxmlformats.org/drawingml/2006/main">
              <a:ext uri="{FF2B5EF4-FFF2-40B4-BE49-F238E27FC236}">
                <a16:creationId xmlns:a16="http://schemas.microsoft.com/office/drawing/2014/main" id="{18E68CF3-71F4-4F5D-8098-CC5A884E92E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M1 · 1/6</a:t>
            </a:r>
          </a:p>
        </p:txBody>
      </p:sp>
      <p:sp>
        <p:nvSpPr>
          <p:cNvPr id="3" name="">
            <a:extLst xmlns:a="http://schemas.openxmlformats.org/drawingml/2006/main">
              <a:ext uri="{FF2B5EF4-FFF2-40B4-BE49-F238E27FC236}">
                <a16:creationId xmlns:a16="http://schemas.microsoft.com/office/drawing/2014/main" id="{18DF32FC-187E-4BE7-A01E-5EB63529E634}"/>
              </a:ext>
            </a:extLst>
          </p:cNvPr>
          <p:cNvSpPr>
            <a:spLocks xmlns:a="http://schemas.openxmlformats.org/drawingml/2006/main" noGrp="1"/>
          </p:cNvSpPr>
          <p:nvPr/>
        </p:nvSpPr>
        <p:spPr>
          <a:xfrm xmlns:a="http://schemas.openxmlformats.org/drawingml/2006/main">
            <a:off x="685800" y="2000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API городской доставки посылок</a:t>
            </a:r>
          </a:p>
        </p:txBody>
      </p:sp>
      <p:sp>
        <p:nvSpPr>
          <p:cNvPr id="4" name="">
            <a:extLst xmlns:a="http://schemas.openxmlformats.org/drawingml/2006/main">
              <a:ext uri="{FF2B5EF4-FFF2-40B4-BE49-F238E27FC236}">
                <a16:creationId xmlns:a16="http://schemas.microsoft.com/office/drawing/2014/main" id="{DF88D27C-8CCB-45AA-9978-95C55A408B7E}"/>
              </a:ext>
            </a:extLst>
          </p:cNvPr>
          <p:cNvSpPr>
            <a:spLocks xmlns:a="http://schemas.openxmlformats.org/drawingml/2006/main" noGrp="1"/>
          </p:cNvSpPr>
          <p:nvPr/>
        </p:nvSpPr>
        <p:spPr>
          <a:xfrm xmlns:a="http://schemas.openxmlformats.org/drawingml/2006/main">
            <a:off x="685800" y="3190875"/>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Отправитель оформляет. Диспетчер назначает.</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Курьер вручает по коду. Получатель отслеживает.</a:t>
            </a:r>
          </a:p>
        </p:txBody>
      </p:sp>
      <p:sp>
        <p:nvSpPr>
          <p:cNvPr id="5" name="">
            <a:extLst xmlns:a="http://schemas.openxmlformats.org/drawingml/2006/main">
              <a:ext uri="{FF2B5EF4-FFF2-40B4-BE49-F238E27FC236}">
                <a16:creationId xmlns:a16="http://schemas.microsoft.com/office/drawing/2014/main" id="{CDFF8784-A384-45BA-A66E-DC898645B4A7}"/>
              </a:ext>
            </a:extLst>
          </p:cNvPr>
          <p:cNvSpPr>
            <a:spLocks xmlns:a="http://schemas.openxmlformats.org/drawingml/2006/main" noGrp="1"/>
          </p:cNvSpPr>
          <p:nvPr/>
        </p:nvSpPr>
        <p:spPr>
          <a:xfrm xmlns:a="http://schemas.openxmlformats.org/drawingml/2006/main">
            <a:off x="685800" y="5095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Команда georgik</a:t>
            </a:r>
          </a:p>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РБПО · EK1 · Концепция безопасности</a:t>
            </a:r>
          </a:p>
        </p:txBody>
      </p:sp>
    </p:spTree>
    <p:extLst>
      <p:ext uri="{BB962C8B-B14F-4D97-AF65-F5344CB8AC3E}">
        <p14:creationId xmlns:p14="http://schemas.microsoft.com/office/powerpoint/2010/main" val="1822679679"/>
      </p:ext>
    </p:extLst>
  </p:cSld>
</p:sld>
</file>

<file path=ppt/slides/slide2.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A70F1B-A7F5-48F3-A13D-C1CB50DA8F07}"/>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Запускаемая основа</a:t>
            </a:r>
          </a:p>
        </p:txBody>
      </p:sp>
      <p:sp>
        <p:nvSpPr>
          <p:cNvPr id="2" name="">
            <a:extLst xmlns:a="http://schemas.openxmlformats.org/drawingml/2006/main">
              <a:ext uri="{FF2B5EF4-FFF2-40B4-BE49-F238E27FC236}">
                <a16:creationId xmlns:a16="http://schemas.microsoft.com/office/drawing/2014/main" id="{10744B42-7FBD-4E22-B019-F47A1E5BD39A}"/>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M1 · 2/6</a:t>
            </a:r>
          </a:p>
        </p:txBody>
      </p:sp>
      <p:sp>
        <p:nvSpPr>
          <p:cNvPr id="3" name="">
            <a:extLst xmlns:a="http://schemas.openxmlformats.org/drawingml/2006/main">
              <a:ext uri="{FF2B5EF4-FFF2-40B4-BE49-F238E27FC236}">
                <a16:creationId xmlns:a16="http://schemas.microsoft.com/office/drawing/2014/main" id="{4C6AE028-08E5-42F9-9654-DA1BCB02C282}"/>
              </a:ext>
            </a:extLst>
          </p:cNvPr>
          <p:cNvSpPr>
            <a:spLocks xmlns:a="http://schemas.openxmlformats.org/drawingml/2006/main" noGrp="1"/>
          </p:cNvSpPr>
          <p:nvPr/>
        </p:nvSpPr>
        <p:spPr>
          <a:xfrm xmlns:a="http://schemas.openxmlformats.org/drawingml/2006/main">
            <a:off x="685800" y="1962150"/>
            <a:ext cx="676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ASP.NET Core / .NET 10</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PostgreSQL / EF Core</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Docker Compose / Swagger</a:t>
            </a:r>
          </a:p>
        </p:txBody>
      </p:sp>
      <p:sp>
        <p:nvSpPr>
          <p:cNvPr id="4" name="">
            <a:extLst xmlns:a="http://schemas.openxmlformats.org/drawingml/2006/main">
              <a:ext uri="{FF2B5EF4-FFF2-40B4-BE49-F238E27FC236}">
                <a16:creationId xmlns:a16="http://schemas.microsoft.com/office/drawing/2014/main" id="{5715F578-BC16-444A-A788-F4C031D74D60}"/>
              </a:ext>
            </a:extLst>
          </p:cNvPr>
          <p:cNvSpPr>
            <a:spLocks xmlns:a="http://schemas.openxmlformats.org/drawingml/2006/main" noGrp="1"/>
          </p:cNvSpPr>
          <p:nvPr/>
        </p:nvSpPr>
        <p:spPr>
          <a:xfrm xmlns:a="http://schemas.openxmlformats.org/drawingml/2006/main">
            <a:off x="685800" y="3781425"/>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53048"/>
                </a:solidFill>
                <a:latin typeface="Helvetica Neue"/>
                <a:ea typeface="Helvetica Neue"/>
                <a:cs typeface="Helvetica Neue"/>
              </a:defRPr>
            </a:pPr>
            <a:r>
              <a:rPr sz="2700" b="1">
                <a:solidFill>
                  <a:srgbClr val="153048"/>
                </a:solidFill>
                <a:latin typeface="Helvetica Neue"/>
                <a:ea typeface="Helvetica Neue"/>
                <a:cs typeface="Helvetica Neue"/>
              </a:rPr>
              <a:t>GET /health</a:t>
            </a:r>
          </a:p>
        </p:txBody>
      </p:sp>
      <p:sp>
        <p:nvSpPr>
          <p:cNvPr id="5" name="">
            <a:extLst xmlns:a="http://schemas.openxmlformats.org/drawingml/2006/main">
              <a:ext uri="{FF2B5EF4-FFF2-40B4-BE49-F238E27FC236}">
                <a16:creationId xmlns:a16="http://schemas.microsoft.com/office/drawing/2014/main" id="{1B193383-D3B1-4689-9394-433305A09B13}"/>
              </a:ext>
            </a:extLst>
          </p:cNvPr>
          <p:cNvSpPr>
            <a:spLocks xmlns:a="http://schemas.openxmlformats.org/drawingml/2006/main" noGrp="1"/>
          </p:cNvSpPr>
          <p:nvPr/>
        </p:nvSpPr>
        <p:spPr>
          <a:xfrm xmlns:a="http://schemas.openxmlformats.org/drawingml/2006/main">
            <a:off x="685800" y="4381500"/>
            <a:ext cx="695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048"/>
                </a:solidFill>
                <a:latin typeface="Helvetica Neue"/>
                <a:ea typeface="Helvetica Neue"/>
                <a:cs typeface="Helvetica Neue"/>
              </a:defRPr>
            </a:pPr>
            <a:r>
              <a:rPr sz="2325" b="0">
                <a:solidFill>
                  <a:srgbClr val="153048"/>
                </a:solidFill>
                <a:latin typeface="Helvetica Neue"/>
                <a:ea typeface="Helvetica Neue"/>
                <a:cs typeface="Helvetica Neue"/>
              </a:rPr>
              <a:t>HTTP 200   {"status":"healthy"}</a:t>
            </a:r>
          </a:p>
        </p:txBody>
      </p:sp>
      <p:sp>
        <p:nvSpPr>
          <p:cNvPr id="6" name="">
            <a:extLst xmlns:a="http://schemas.openxmlformats.org/drawingml/2006/main">
              <a:ext uri="{FF2B5EF4-FFF2-40B4-BE49-F238E27FC236}">
                <a16:creationId xmlns:a16="http://schemas.microsoft.com/office/drawing/2014/main" id="{DE10A897-BF2D-45AE-9593-FB76A7BB8786}"/>
              </a:ext>
            </a:extLst>
          </p:cNvPr>
          <p:cNvSpPr>
            <a:spLocks xmlns:a="http://schemas.openxmlformats.org/drawingml/2006/main" noGrp="1"/>
          </p:cNvSpPr>
          <p:nvPr/>
        </p:nvSpPr>
        <p:spPr>
          <a:xfrm xmlns:a="http://schemas.openxmlformats.org/drawingml/2006/main">
            <a:off x="685800" y="5276850"/>
            <a:ext cx="714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Identity / JWT / серверные роли.</a:t>
            </a:r>
          </a:p>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D-01 и D-03 пока планируются.</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27cc38b3ffc4d25"/>
          <a:stretch xmlns:a="http://schemas.openxmlformats.org/drawingml/2006/main"/>
        </p:blipFill>
        <p:spPr>
          <a:xfrm xmlns:a="http://schemas.openxmlformats.org/drawingml/2006/main">
            <a:off x="8472505" y="1809750"/>
            <a:ext cx="2866990" cy="4191000"/>
          </a:xfrm>
          <a:prstGeom xmlns:a="http://schemas.openxmlformats.org/drawingml/2006/main" prst="rect">
            <a:avLst/>
          </a:prstGeom>
        </p:spPr>
      </p:pic>
    </p:spTree>
    <p:extLst>
      <p:ext uri="{BB962C8B-B14F-4D97-AF65-F5344CB8AC3E}">
        <p14:creationId xmlns:p14="http://schemas.microsoft.com/office/powerpoint/2010/main" val="892501743"/>
      </p:ext>
    </p:extLst>
  </p:cSld>
</p:sld>
</file>

<file path=ppt/slides/slide3.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4864AD-909F-4834-A5FF-A88346B985E9}"/>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Границы доверия</a:t>
            </a:r>
          </a:p>
        </p:txBody>
      </p:sp>
      <p:sp>
        <p:nvSpPr>
          <p:cNvPr id="2" name="">
            <a:extLst xmlns:a="http://schemas.openxmlformats.org/drawingml/2006/main">
              <a:ext uri="{FF2B5EF4-FFF2-40B4-BE49-F238E27FC236}">
                <a16:creationId xmlns:a16="http://schemas.microsoft.com/office/drawing/2014/main" id="{E15C292C-CB91-4284-8423-A9C40AFFB14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3/6</a:t>
            </a:r>
          </a:p>
        </p:txBody>
      </p:sp>
      <p:sp>
        <p:nvSpPr>
          <p:cNvPr id="3" name="">
            <a:extLst xmlns:a="http://schemas.openxmlformats.org/drawingml/2006/main">
              <a:ext uri="{FF2B5EF4-FFF2-40B4-BE49-F238E27FC236}">
                <a16:creationId xmlns:a16="http://schemas.microsoft.com/office/drawing/2014/main" id="{BAAC613D-9A84-480E-A0A1-3AB9A175681B}"/>
              </a:ext>
            </a:extLst>
          </p:cNvPr>
          <p:cNvSpPr>
            <a:spLocks xmlns:a="http://schemas.openxmlformats.org/drawingml/2006/main" noGrp="1"/>
          </p:cNvSpPr>
          <p:nvPr/>
        </p:nvSpPr>
        <p:spPr>
          <a:xfrm xmlns:a="http://schemas.openxmlformats.org/drawingml/2006/main">
            <a:off x="685800" y="1885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Клиент и сервер</a:t>
            </a:r>
          </a:p>
        </p:txBody>
      </p:sp>
      <p:sp>
        <p:nvSpPr>
          <p:cNvPr id="4" name="">
            <a:extLst xmlns:a="http://schemas.openxmlformats.org/drawingml/2006/main">
              <a:ext uri="{FF2B5EF4-FFF2-40B4-BE49-F238E27FC236}">
                <a16:creationId xmlns:a16="http://schemas.microsoft.com/office/drawing/2014/main" id="{064DBBB2-4713-496F-B42D-AEDB79990A25}"/>
              </a:ext>
            </a:extLst>
          </p:cNvPr>
          <p:cNvSpPr>
            <a:spLocks xmlns:a="http://schemas.openxmlformats.org/drawingml/2006/main" noGrp="1"/>
          </p:cNvSpPr>
          <p:nvPr/>
        </p:nvSpPr>
        <p:spPr>
          <a:xfrm xmlns:a="http://schemas.openxmlformats.org/drawingml/2006/main">
            <a:off x="685800" y="241935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Любой пользователь может изменить HTTP-запрос.</a:t>
            </a:r>
          </a:p>
        </p:txBody>
      </p:sp>
      <p:sp>
        <p:nvSpPr>
          <p:cNvPr id="5" name="">
            <a:extLst xmlns:a="http://schemas.openxmlformats.org/drawingml/2006/main">
              <a:ext uri="{FF2B5EF4-FFF2-40B4-BE49-F238E27FC236}">
                <a16:creationId xmlns:a16="http://schemas.microsoft.com/office/drawing/2014/main" id="{953E1FCD-54E1-4ABA-A880-378A1D783ABE}"/>
              </a:ext>
            </a:extLst>
          </p:cNvPr>
          <p:cNvSpPr>
            <a:spLocks xmlns:a="http://schemas.openxmlformats.org/drawingml/2006/main" noGrp="1"/>
          </p:cNvSpPr>
          <p:nvPr/>
        </p:nvSpPr>
        <p:spPr>
          <a:xfrm xmlns:a="http://schemas.openxmlformats.org/drawingml/2006/main">
            <a:off x="685800" y="34861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Полномочия внутри API</a:t>
            </a:r>
          </a:p>
        </p:txBody>
      </p:sp>
      <p:sp>
        <p:nvSpPr>
          <p:cNvPr id="6" name="">
            <a:extLst xmlns:a="http://schemas.openxmlformats.org/drawingml/2006/main">
              <a:ext uri="{FF2B5EF4-FFF2-40B4-BE49-F238E27FC236}">
                <a16:creationId xmlns:a16="http://schemas.microsoft.com/office/drawing/2014/main" id="{41B64DCB-CDCB-4CD3-B747-B8F369A356D4}"/>
              </a:ext>
            </a:extLst>
          </p:cNvPr>
          <p:cNvSpPr>
            <a:spLocks xmlns:a="http://schemas.openxmlformats.org/drawingml/2006/main" noGrp="1"/>
          </p:cNvSpPr>
          <p:nvPr/>
        </p:nvSpPr>
        <p:spPr>
          <a:xfrm xmlns:a="http://schemas.openxmlformats.org/drawingml/2006/main">
            <a:off x="685800" y="4019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Вход курьера разрешает только его активные задания.</a:t>
            </a:r>
          </a:p>
        </p:txBody>
      </p:sp>
      <p:sp>
        <p:nvSpPr>
          <p:cNvPr id="7" name="">
            <a:extLst xmlns:a="http://schemas.openxmlformats.org/drawingml/2006/main">
              <a:ext uri="{FF2B5EF4-FFF2-40B4-BE49-F238E27FC236}">
                <a16:creationId xmlns:a16="http://schemas.microsoft.com/office/drawing/2014/main" id="{6FB1EC09-343B-4980-9F0C-A14406672359}"/>
              </a:ext>
            </a:extLst>
          </p:cNvPr>
          <p:cNvSpPr>
            <a:spLocks xmlns:a="http://schemas.openxmlformats.org/drawingml/2006/main" noGrp="1"/>
          </p:cNvSpPr>
          <p:nvPr/>
        </p:nvSpPr>
        <p:spPr>
          <a:xfrm xmlns:a="http://schemas.openxmlformats.org/drawingml/2006/main">
            <a:off x="685800" y="506730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Публичное отслеживание</a:t>
            </a:r>
          </a:p>
        </p:txBody>
      </p:sp>
      <p:sp>
        <p:nvSpPr>
          <p:cNvPr id="8" name="">
            <a:extLst xmlns:a="http://schemas.openxmlformats.org/drawingml/2006/main">
              <a:ext uri="{FF2B5EF4-FFF2-40B4-BE49-F238E27FC236}">
                <a16:creationId xmlns:a16="http://schemas.microsoft.com/office/drawing/2014/main" id="{522ED98A-EE9B-4680-AC64-EF8EB7F29992}"/>
              </a:ext>
            </a:extLst>
          </p:cNvPr>
          <p:cNvSpPr>
            <a:spLocks xmlns:a="http://schemas.openxmlformats.org/drawingml/2006/main" noGrp="1"/>
          </p:cNvSpPr>
          <p:nvPr/>
        </p:nvSpPr>
        <p:spPr>
          <a:xfrm xmlns:a="http://schemas.openxmlformats.org/drawingml/2006/main">
            <a:off x="685800" y="55911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Анонимный ответ ограничен статусом, датой и попытками.</a:t>
            </a:r>
          </a:p>
        </p:txBody>
      </p:sp>
    </p:spTree>
    <p:extLst>
      <p:ext uri="{BB962C8B-B14F-4D97-AF65-F5344CB8AC3E}">
        <p14:creationId xmlns:p14="http://schemas.microsoft.com/office/powerpoint/2010/main" val="1069054411"/>
      </p:ext>
    </p:extLst>
  </p:cSld>
</p:sld>
</file>

<file path=ppt/slides/slide4.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00C46E-FAEA-4A5D-AC68-7A7DB55D55FC}"/>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Доступ к данным и функциям</a:t>
            </a:r>
          </a:p>
        </p:txBody>
      </p:sp>
      <p:sp>
        <p:nvSpPr>
          <p:cNvPr id="2" name="">
            <a:extLst xmlns:a="http://schemas.openxmlformats.org/drawingml/2006/main">
              <a:ext uri="{FF2B5EF4-FFF2-40B4-BE49-F238E27FC236}">
                <a16:creationId xmlns:a16="http://schemas.microsoft.com/office/drawing/2014/main" id="{BF337910-E991-4505-8C32-B5D549804B03}"/>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4/6</a:t>
            </a:r>
          </a:p>
        </p:txBody>
      </p:sp>
      <p:sp>
        <p:nvSpPr>
          <p:cNvPr id="3" name="">
            <a:extLst xmlns:a="http://schemas.openxmlformats.org/drawingml/2006/main">
              <a:ext uri="{FF2B5EF4-FFF2-40B4-BE49-F238E27FC236}">
                <a16:creationId xmlns:a16="http://schemas.microsoft.com/office/drawing/2014/main" id="{2CFA13B3-4125-4D2F-B907-C66E51EF68BD}"/>
              </a:ext>
            </a:extLst>
          </p:cNvPr>
          <p:cNvSpPr>
            <a:spLocks xmlns:a="http://schemas.openxmlformats.org/drawingml/2006/main" noGrp="1"/>
          </p:cNvSpPr>
          <p:nvPr/>
        </p:nvSpPr>
        <p:spPr>
          <a:xfrm xmlns:a="http://schemas.openxmlformats.org/drawingml/2006/main">
            <a:off x="685800" y="18288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D-01: условие доступа в запросе к базе</a:t>
            </a:r>
          </a:p>
        </p:txBody>
      </p:sp>
      <p:sp>
        <p:nvSpPr>
          <p:cNvPr id="4" name="">
            <a:extLst xmlns:a="http://schemas.openxmlformats.org/drawingml/2006/main">
              <a:ext uri="{FF2B5EF4-FFF2-40B4-BE49-F238E27FC236}">
                <a16:creationId xmlns:a16="http://schemas.microsoft.com/office/drawing/2014/main" id="{E95304E8-4979-4988-B0D7-85C55E0C0ACF}"/>
              </a:ext>
            </a:extLst>
          </p:cNvPr>
          <p:cNvSpPr>
            <a:spLocks xmlns:a="http://schemas.openxmlformats.org/drawingml/2006/main" noGrp="1"/>
          </p:cNvSpPr>
          <p:nvPr/>
        </p:nvSpPr>
        <p:spPr>
          <a:xfrm xmlns:a="http://schemas.openxmlformats.org/drawingml/2006/main">
            <a:off x="685800" y="2505075"/>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T-01 / T-02 и SR-01 / SR-02</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Отправитель видит свои отправления.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Курьер видит назначенные активные задания.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Чужой и отсутствующий объект дают 404.</a:t>
            </a:r>
          </a:p>
        </p:txBody>
      </p:sp>
      <p:sp>
        <p:nvSpPr>
          <p:cNvPr id="5" name="">
            <a:extLst xmlns:a="http://schemas.openxmlformats.org/drawingml/2006/main">
              <a:ext uri="{FF2B5EF4-FFF2-40B4-BE49-F238E27FC236}">
                <a16:creationId xmlns:a16="http://schemas.microsoft.com/office/drawing/2014/main" id="{CF8FD386-2846-4B22-A9AC-50DDFDA0D2F9}"/>
              </a:ext>
            </a:extLst>
          </p:cNvPr>
          <p:cNvSpPr>
            <a:spLocks xmlns:a="http://schemas.openxmlformats.org/drawingml/2006/main" noGrp="1"/>
          </p:cNvSpPr>
          <p:nvPr/>
        </p:nvSpPr>
        <p:spPr>
          <a:xfrm xmlns:a="http://schemas.openxmlformats.org/drawingml/2006/main">
            <a:off x="685800" y="45529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D-02: роль назначает сервер</a:t>
            </a:r>
          </a:p>
        </p:txBody>
      </p:sp>
      <p:sp>
        <p:nvSpPr>
          <p:cNvPr id="6" name="">
            <a:extLst xmlns:a="http://schemas.openxmlformats.org/drawingml/2006/main">
              <a:ext uri="{FF2B5EF4-FFF2-40B4-BE49-F238E27FC236}">
                <a16:creationId xmlns:a16="http://schemas.microsoft.com/office/drawing/2014/main" id="{CABE087E-B0A9-4858-94E8-E73B4026DCAA}"/>
              </a:ext>
            </a:extLst>
          </p:cNvPr>
          <p:cNvSpPr>
            <a:spLocks xmlns:a="http://schemas.openxmlformats.org/drawingml/2006/main" noGrp="1"/>
          </p:cNvSpPr>
          <p:nvPr/>
        </p:nvSpPr>
        <p:spPr>
          <a:xfrm xmlns:a="http://schemas.openxmlformats.org/drawingml/2006/main">
            <a:off x="685800" y="51530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T-06 и SR-03</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Проверка роли дополняет проверку конкретного объекта.</a:t>
            </a:r>
          </a:p>
        </p:txBody>
      </p:sp>
    </p:spTree>
    <p:extLst>
      <p:ext uri="{BB962C8B-B14F-4D97-AF65-F5344CB8AC3E}">
        <p14:creationId xmlns:p14="http://schemas.microsoft.com/office/powerpoint/2010/main" val="1928623856"/>
      </p:ext>
    </p:extLst>
  </p:cSld>
</p:sld>
</file>

<file path=ppt/slides/slide5.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6B136-9B67-4938-A575-7F18BCC913AE}"/>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D-03: защита кода получения</a:t>
            </a:r>
          </a:p>
        </p:txBody>
      </p:sp>
      <p:sp>
        <p:nvSpPr>
          <p:cNvPr id="2" name="">
            <a:extLst xmlns:a="http://schemas.openxmlformats.org/drawingml/2006/main">
              <a:ext uri="{FF2B5EF4-FFF2-40B4-BE49-F238E27FC236}">
                <a16:creationId xmlns:a16="http://schemas.microsoft.com/office/drawing/2014/main" id="{6436DC4F-5309-4CE1-96C7-61A2406C7530}"/>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M3 · 5/6</a:t>
            </a:r>
          </a:p>
        </p:txBody>
      </p:sp>
      <p:sp>
        <p:nvSpPr>
          <p:cNvPr id="3" name="">
            <a:extLst xmlns:a="http://schemas.openxmlformats.org/drawingml/2006/main">
              <a:ext uri="{FF2B5EF4-FFF2-40B4-BE49-F238E27FC236}">
                <a16:creationId xmlns:a16="http://schemas.microsoft.com/office/drawing/2014/main" id="{FCCA11E0-2F9D-45F8-A825-3CD37761E488}"/>
              </a:ext>
            </a:extLst>
          </p:cNvPr>
          <p:cNvSpPr>
            <a:spLocks xmlns:a="http://schemas.openxmlformats.org/drawingml/2006/main" noGrp="1"/>
          </p:cNvSpPr>
          <p:nvPr/>
        </p:nvSpPr>
        <p:spPr>
          <a:xfrm xmlns:a="http://schemas.openxmlformats.org/drawingml/2006/main">
            <a:off x="685800" y="1857375"/>
            <a:ext cx="1009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T-03: перебор</a:t>
            </a:r>
          </a:p>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T-10: утечка кода</a:t>
            </a:r>
          </a:p>
        </p:txBody>
      </p:sp>
      <p:sp>
        <p:nvSpPr>
          <p:cNvPr id="4" name="">
            <a:extLst xmlns:a="http://schemas.openxmlformats.org/drawingml/2006/main">
              <a:ext uri="{FF2B5EF4-FFF2-40B4-BE49-F238E27FC236}">
                <a16:creationId xmlns:a16="http://schemas.microsoft.com/office/drawing/2014/main" id="{37B54067-6F67-4BAD-870D-4B0CAA827212}"/>
              </a:ext>
            </a:extLst>
          </p:cNvPr>
          <p:cNvSpPr>
            <a:spLocks xmlns:a="http://schemas.openxmlformats.org/drawingml/2006/main" noGrp="1"/>
          </p:cNvSpPr>
          <p:nvPr/>
        </p:nvSpPr>
        <p:spPr>
          <a:xfrm xmlns:a="http://schemas.openxmlformats.org/drawingml/2006/main">
            <a:off x="685800" y="323850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SR-06: верный одноразовый код и 5 ошибок</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SR-07: выдача владельцу, защита хранения</a:t>
            </a:r>
          </a:p>
        </p:txBody>
      </p:sp>
      <p:sp>
        <p:nvSpPr>
          <p:cNvPr id="5" name="">
            <a:extLst xmlns:a="http://schemas.openxmlformats.org/drawingml/2006/main">
              <a:ext uri="{FF2B5EF4-FFF2-40B4-BE49-F238E27FC236}">
                <a16:creationId xmlns:a16="http://schemas.microsoft.com/office/drawing/2014/main" id="{6E5C59D8-4884-4BF7-874E-E42C93540C44}"/>
              </a:ext>
            </a:extLst>
          </p:cNvPr>
          <p:cNvSpPr>
            <a:spLocks xmlns:a="http://schemas.openxmlformats.org/drawingml/2006/main" noGrp="1"/>
          </p:cNvSpPr>
          <p:nvPr/>
        </p:nvSpPr>
        <p:spPr>
          <a:xfrm xmlns:a="http://schemas.openxmlformats.org/drawingml/2006/main">
            <a:off x="685800" y="47910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4AD66"/>
                </a:solidFill>
                <a:latin typeface="Helvetica Neue"/>
                <a:ea typeface="Helvetica Neue"/>
                <a:cs typeface="Helvetica Neue"/>
              </a:defRPr>
            </a:pPr>
            <a:r>
              <a:rPr sz="3375" b="1">
                <a:solidFill>
                  <a:srgbClr val="D4AD66"/>
                </a:solidFill>
                <a:latin typeface="Helvetica Neue"/>
                <a:ea typeface="Helvetica Neue"/>
                <a:cs typeface="Helvetica Neue"/>
              </a:rPr>
              <a:t>HMAC-SHA256</a:t>
            </a:r>
          </a:p>
        </p:txBody>
      </p:sp>
      <p:sp>
        <p:nvSpPr>
          <p:cNvPr id="6" name="">
            <a:extLst xmlns:a="http://schemas.openxmlformats.org/drawingml/2006/main">
              <a:ext uri="{FF2B5EF4-FFF2-40B4-BE49-F238E27FC236}">
                <a16:creationId xmlns:a16="http://schemas.microsoft.com/office/drawing/2014/main" id="{E29A7C10-D098-4A74-98C1-891DCACD8374}"/>
              </a:ext>
            </a:extLst>
          </p:cNvPr>
          <p:cNvSpPr>
            <a:spLocks xmlns:a="http://schemas.openxmlformats.org/drawingml/2006/main" noGrp="1"/>
          </p:cNvSpPr>
          <p:nvPr/>
        </p:nvSpPr>
        <p:spPr>
          <a:xfrm xmlns:a="http://schemas.openxmlformats.org/drawingml/2006/main">
            <a:off x="685800" y="5476875"/>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Идентификатор отправления + код + секретный ключ</a:t>
            </a:r>
          </a:p>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Ключ хранится вне базы и репозитория.</a:t>
            </a:r>
          </a:p>
        </p:txBody>
      </p:sp>
    </p:spTree>
    <p:extLst>
      <p:ext uri="{BB962C8B-B14F-4D97-AF65-F5344CB8AC3E}">
        <p14:creationId xmlns:p14="http://schemas.microsoft.com/office/powerpoint/2010/main" val="1582324517"/>
      </p:ext>
    </p:extLst>
  </p:cSld>
</p:sld>
</file>

<file path=ppt/slides/slide6.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106D65-1355-49C0-BE76-44354C31B160}"/>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Контрпример и будущая проверка</a:t>
            </a:r>
          </a:p>
        </p:txBody>
      </p:sp>
      <p:sp>
        <p:nvSpPr>
          <p:cNvPr id="2" name="">
            <a:extLst xmlns:a="http://schemas.openxmlformats.org/drawingml/2006/main">
              <a:ext uri="{FF2B5EF4-FFF2-40B4-BE49-F238E27FC236}">
                <a16:creationId xmlns:a16="http://schemas.microsoft.com/office/drawing/2014/main" id="{224CA300-338D-42EF-9482-A69744E8379C}"/>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M3 · 6/6</a:t>
            </a:r>
          </a:p>
        </p:txBody>
      </p:sp>
      <p:sp>
        <p:nvSpPr>
          <p:cNvPr id="3" name="">
            <a:extLst xmlns:a="http://schemas.openxmlformats.org/drawingml/2006/main">
              <a:ext uri="{FF2B5EF4-FFF2-40B4-BE49-F238E27FC236}">
                <a16:creationId xmlns:a16="http://schemas.microsoft.com/office/drawing/2014/main" id="{6948C89F-48B4-46E0-A018-A39CFA0D8458}"/>
              </a:ext>
            </a:extLst>
          </p:cNvPr>
          <p:cNvSpPr>
            <a:spLocks xmlns:a="http://schemas.openxmlformats.org/drawingml/2006/main" noGrp="1"/>
          </p:cNvSpPr>
          <p:nvPr/>
        </p:nvSpPr>
        <p:spPr>
          <a:xfrm xmlns:a="http://schemas.openxmlformats.org/drawingml/2006/main">
            <a:off x="685800" y="18097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Постоянный показ кода</a:t>
            </a:r>
          </a:p>
        </p:txBody>
      </p:sp>
      <p:sp>
        <p:nvSpPr>
          <p:cNvPr id="4" name="">
            <a:extLst xmlns:a="http://schemas.openxmlformats.org/drawingml/2006/main">
              <a:ext uri="{FF2B5EF4-FFF2-40B4-BE49-F238E27FC236}">
                <a16:creationId xmlns:a16="http://schemas.microsoft.com/office/drawing/2014/main" id="{09065A23-E028-4A1D-B00A-3FA95600B0D0}"/>
              </a:ext>
            </a:extLst>
          </p:cNvPr>
          <p:cNvSpPr>
            <a:spLocks xmlns:a="http://schemas.openxmlformats.org/drawingml/2006/main" noGrp="1"/>
          </p:cNvSpPr>
          <p:nvPr/>
        </p:nvSpPr>
        <p:spPr>
          <a:xfrm xmlns:a="http://schemas.openxmlformats.org/drawingml/2006/main">
            <a:off x="685800" y="2419350"/>
            <a:ext cx="5381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Расшифровка для показа.</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Общий ответ персоналу</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раскрывает открытый код.</a:t>
            </a:r>
          </a:p>
        </p:txBody>
      </p:sp>
      <p:sp>
        <p:nvSpPr>
          <p:cNvPr id="5" name="">
            <a:extLst xmlns:a="http://schemas.openxmlformats.org/drawingml/2006/main">
              <a:ext uri="{FF2B5EF4-FFF2-40B4-BE49-F238E27FC236}">
                <a16:creationId xmlns:a16="http://schemas.microsoft.com/office/drawing/2014/main" id="{989D8214-0BAE-4BD9-A692-74A3791D9D01}"/>
              </a:ext>
            </a:extLst>
          </p:cNvPr>
          <p:cNvSpPr>
            <a:spLocks xmlns:a="http://schemas.openxmlformats.org/drawingml/2006/main" noGrp="1"/>
          </p:cNvSpPr>
          <p:nvPr/>
        </p:nvSpPr>
        <p:spPr>
          <a:xfrm xmlns:a="http://schemas.openxmlformats.org/drawingml/2006/main">
            <a:off x="6715125" y="1809750"/>
            <a:ext cx="4810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Одноразовый показ</a:t>
            </a:r>
          </a:p>
        </p:txBody>
      </p:sp>
      <p:sp>
        <p:nvSpPr>
          <p:cNvPr id="6" name="">
            <a:extLst xmlns:a="http://schemas.openxmlformats.org/drawingml/2006/main">
              <a:ext uri="{FF2B5EF4-FFF2-40B4-BE49-F238E27FC236}">
                <a16:creationId xmlns:a16="http://schemas.microsoft.com/office/drawing/2014/main" id="{8A711D65-E339-49CD-8B87-4D2BD8F5316F}"/>
              </a:ext>
            </a:extLst>
          </p:cNvPr>
          <p:cNvSpPr>
            <a:spLocks xmlns:a="http://schemas.openxmlformats.org/drawingml/2006/main" noGrp="1"/>
          </p:cNvSpPr>
          <p:nvPr/>
        </p:nvSpPr>
        <p:spPr>
          <a:xfrm xmlns:a="http://schemas.openxmlformats.org/drawingml/2006/main">
            <a:off x="6715125" y="2419350"/>
            <a:ext cx="4810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Храним HMAC.</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Потеря кода требует</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перевыпуска владельцем.</a:t>
            </a:r>
          </a:p>
        </p:txBody>
      </p:sp>
      <p:sp>
        <p:nvSpPr>
          <p:cNvPr id="7" name="">
            <a:extLst xmlns:a="http://schemas.openxmlformats.org/drawingml/2006/main">
              <a:ext uri="{FF2B5EF4-FFF2-40B4-BE49-F238E27FC236}">
                <a16:creationId xmlns:a16="http://schemas.microsoft.com/office/drawing/2014/main" id="{41F9E24F-4791-4AAE-8FCE-DF3B4394BD73}"/>
              </a:ext>
            </a:extLst>
          </p:cNvPr>
          <p:cNvSpPr>
            <a:spLocks xmlns:a="http://schemas.openxmlformats.org/drawingml/2006/main" noGrp="1"/>
          </p:cNvSpPr>
          <p:nvPr/>
        </p:nvSpPr>
        <p:spPr>
          <a:xfrm xmlns:a="http://schemas.openxmlformats.org/drawingml/2006/main">
            <a:off x="685800" y="41624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53048"/>
                </a:solidFill>
                <a:latin typeface="Helvetica Neue"/>
                <a:ea typeface="Helvetica Neue"/>
                <a:cs typeface="Helvetica Neue"/>
              </a:defRPr>
            </a:pPr>
            <a:r>
              <a:rPr sz="2550" b="1">
                <a:solidFill>
                  <a:srgbClr val="153048"/>
                </a:solidFill>
                <a:latin typeface="Helvetica Neue"/>
                <a:ea typeface="Helvetica Neue"/>
                <a:cs typeface="Helvetica Neue"/>
              </a:rPr>
              <a:t>Проверим лимит и одновременные запросы</a:t>
            </a:r>
          </a:p>
        </p:txBody>
      </p:sp>
      <p:sp>
        <p:nvSpPr>
          <p:cNvPr id="8" name="">
            <a:extLst xmlns:a="http://schemas.openxmlformats.org/drawingml/2006/main">
              <a:ext uri="{FF2B5EF4-FFF2-40B4-BE49-F238E27FC236}">
                <a16:creationId xmlns:a16="http://schemas.microsoft.com/office/drawing/2014/main" id="{E23A4043-36BE-495A-80F5-1E66DBBA8430}"/>
              </a:ext>
            </a:extLst>
          </p:cNvPr>
          <p:cNvSpPr>
            <a:spLocks xmlns:a="http://schemas.openxmlformats.org/drawingml/2006/main" noGrp="1"/>
          </p:cNvSpPr>
          <p:nvPr/>
        </p:nvSpPr>
        <p:spPr>
          <a:xfrm xmlns:a="http://schemas.openxmlformats.org/drawingml/2006/main">
            <a:off x="685800" y="4886325"/>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10 неверных запросов одновременно: не больше 5 ошибок.</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Перевыпуск сохраняет счётчик и отменяет прежний код.</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Забор и отмена: один переход и одна запись журнала.</a:t>
            </a:r>
          </a:p>
        </p:txBody>
      </p:sp>
    </p:spTree>
    <p:extLst>
      <p:ext uri="{BB962C8B-B14F-4D97-AF65-F5344CB8AC3E}">
        <p14:creationId xmlns:p14="http://schemas.microsoft.com/office/powerpoint/2010/main" val="767742466"/>
      </p:ext>
    </p:extLst>
  </p:cSld>
</p:sld>
</file>

<file path=ppt/theme/theme1.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2026-10-04T17:20:30.9750000Z</dcterms:created>
  <dcterms:modified xsi:type="dcterms:W3CDTF">2026-10-04T17:20:30.9750000Z</dcterms:modified>
</coreProperties>
</file>