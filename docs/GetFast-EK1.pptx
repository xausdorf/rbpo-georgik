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13d6305efe48d8" /><Relationship Type="http://schemas.openxmlformats.org/officeDocument/2006/relationships/extended-properties" Target="/docProps/app.xml" Id="R2d5359c79c374ea9" /><Relationship Type="http://schemas.openxmlformats.org/officeDocument/2006/relationships/officeDocument" Target="/ppt/presentation.xml" Id="R661410436e21445f" /></Relationships>
</file>

<file path=ppt/presentation.xml><?xml version="1.0" encoding="utf-8"?>
<p:presentation xmlns:p="http://schemas.openxmlformats.org/presentationml/2006/main">
  <p:sldMasterIdLst>
    <p:sldMasterId xmlns:r="http://schemas.openxmlformats.org/officeDocument/2006/relationships" id="2147483648" r:id="Rd0de138984a8402c"/>
  </p:sldMasterIdLst>
  <p:notesMasterIdLst>
    <p:notesMasterId xmlns:r="http://schemas.openxmlformats.org/officeDocument/2006/relationships" r:id="Rf3c4729fd7b54105"/>
  </p:notesMasterIdLst>
  <p:sldIdLst>
    <p:sldId xmlns:r="http://schemas.openxmlformats.org/officeDocument/2006/relationships" id="256" r:id="R3aa1f519631840de"/>
    <p:sldId xmlns:r="http://schemas.openxmlformats.org/officeDocument/2006/relationships" id="257" r:id="R1f0e82dbeef44911"/>
    <p:sldId xmlns:r="http://schemas.openxmlformats.org/officeDocument/2006/relationships" id="258" r:id="Rfa5cafc5f92a46fa"/>
    <p:sldId xmlns:r="http://schemas.openxmlformats.org/officeDocument/2006/relationships" id="259" r:id="R11fad37e89e1488b"/>
    <p:sldId xmlns:r="http://schemas.openxmlformats.org/officeDocument/2006/relationships" id="260" r:id="R5fc171c913b240f7"/>
    <p:sldId xmlns:r="http://schemas.openxmlformats.org/officeDocument/2006/relationships" id="261" r:id="Re00da2ea70cc47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cb0d736292404b" /><Relationship Type="http://schemas.openxmlformats.org/officeDocument/2006/relationships/slideMaster" Target="/ppt/slideMasters/slideMaster1.xml" Id="Rd0de138984a8402c" /><Relationship Type="http://schemas.openxmlformats.org/officeDocument/2006/relationships/notesMaster" Target="/ppt/notesMasters/notesMaster1.xml" Id="Rf3c4729fd7b54105" /><Relationship Type="http://schemas.openxmlformats.org/officeDocument/2006/relationships/presProps" Target="/ppt/presProps.xml" Id="Rcd5df4dc553247a5" /><Relationship Type="http://schemas.openxmlformats.org/officeDocument/2006/relationships/tableStyles" Target="/ppt/tableStyles.xml" Id="Rfe754225d9bf474a" /><Relationship Type="http://schemas.openxmlformats.org/officeDocument/2006/relationships/slide" Target="/ppt/slides/slide1.xml" Id="R3aa1f519631840de" /><Relationship Type="http://schemas.openxmlformats.org/officeDocument/2006/relationships/slide" Target="/ppt/slides/slide2.xml" Id="R1f0e82dbeef44911" /><Relationship Type="http://schemas.openxmlformats.org/officeDocument/2006/relationships/slide" Target="/ppt/slides/slide3.xml" Id="Rfa5cafc5f92a46fa" /><Relationship Type="http://schemas.openxmlformats.org/officeDocument/2006/relationships/slide" Target="/ppt/slides/slide4.xml" Id="R11fad37e89e1488b" /><Relationship Type="http://schemas.openxmlformats.org/officeDocument/2006/relationships/slide" Target="/ppt/slides/slide5.xml" Id="R5fc171c913b240f7" /><Relationship Type="http://schemas.openxmlformats.org/officeDocument/2006/relationships/slide" Target="/ppt/slides/slide6.xml" Id="Re00da2ea70cc47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89ae8ad2914f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9dc1da1a54447d" /><Relationship Type="http://schemas.openxmlformats.org/officeDocument/2006/relationships/notesMaster" Target="/ppt/notesMasters/notesMaster1.xml" Id="R31b321d8051146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ca5c9eda10489e" /><Relationship Type="http://schemas.openxmlformats.org/officeDocument/2006/relationships/notesMaster" Target="/ppt/notesMasters/notesMaster1.xml" Id="Re5e16710bb3448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837f4e0d294814" /><Relationship Type="http://schemas.openxmlformats.org/officeDocument/2006/relationships/notesMaster" Target="/ppt/notesMasters/notesMaster1.xml" Id="R2e41efe3063c4e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9db4659c124c67" /><Relationship Type="http://schemas.openxmlformats.org/officeDocument/2006/relationships/notesMaster" Target="/ppt/notesMasters/notesMaster1.xml" Id="R690a6e5cd89f49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e7539d10ff4d95" /><Relationship Type="http://schemas.openxmlformats.org/officeDocument/2006/relationships/notesMaster" Target="/ppt/notesMasters/notesMaster1.xml" Id="R13d8237a971b4d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c5e219ad6e47f4" /><Relationship Type="http://schemas.openxmlformats.org/officeDocument/2006/relationships/notesMaster" Target="/ppt/notesMasters/notesMaster1.xml" Id="Rec39eae2157e45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M1: продукт и запуск, слайды 1–2, 90 секунд</a:t>
            </a:r>
          </a:p>
          <a:p xmlns:a="http://schemas.openxmlformats.org/drawingml/2006/main">
            <a:r>
              <a:t/>
            </a:r>
          </a:p>
          <a:p xmlns:a="http://schemas.openxmlformats.org/drawingml/2006/main">
            <a:r>
              <a:t>&gt; Наш продукт GetFast — серверное API городской доставки посылок. Отправитель оформляет посылку, диспетчер назначает курьера, курьер забирает и вручает её по коду. Получатель может узнать статус по трек-номеру без регистрации. Оплата, карты и мобильное приложение находятся за границей проекта. Работаем с учебными данными.</a:t>
            </a:r>
          </a:p>
          <a:p xmlns:a="http://schemas.openxmlformats.org/drawingml/2006/main">
            <a:r>
              <a:t>&gt;</a:t>
            </a:r>
          </a:p>
          <a:p xmlns:a="http://schemas.openxmlformats.org/drawingml/2006/main">
            <a:r>
              <a:t>&gt; В текущей основной ветке есть минимальная запускаемая основа: ASP.NET Core на .NET 10, подключение к PostgreSQL, контейнерный запуск и Swagger. Это позволяет уже сейчас подтвердить существование технического объекта, к которому относится концепция безопасности.</a:t>
            </a:r>
          </a:p>
          <a:p xmlns:a="http://schemas.openxmlformats.org/drawingml/2006/main">
            <a:r>
              <a:t>&gt;</a:t>
            </a:r>
          </a:p>
          <a:p xmlns:a="http://schemas.openxmlformats.org/drawingml/2006/main">
            <a:r>
              <a:t>&gt; Показываю GET /health. Если база доступна, сервер возвращает HTTP 200 и status healthy. Отрицательные проверки также предусмотрены: при недоступной базе ответ 503, без пароля или строки подключения в ответе. Документы пока описывают будущие защитные механизмы. Успешный health не доказывает защиту отправлений или кода получения.</a:t>
            </a:r>
          </a:p>
          <a:p xmlns:a="http://schemas.openxmlformats.org/drawingml/2006/main">
            <a:r>
              <a:t>&gt;</a:t>
            </a:r>
          </a:p>
          <a:p xmlns:a="http://schemas.openxmlformats.org/drawingml/2006/main">
            <a:r>
              <a:t>&gt; Основные риски связаны с адресами и телефонами, полномочиями сотрудников и ложным вручением посылки. Дальше покажем, как связываем эти риски с требованиями и решениями.</a:t>
            </a:r>
          </a:p>
          <a:p xmlns:a="http://schemas.openxmlformats.org/drawingml/2006/main">
            <a:r>
              <a:t/>
            </a:r>
          </a:p>
          <a:p xmlns:a="http://schemas.openxmlformats.org/drawingml/2006/main">
            <a:r>
              <a:t>Демо включено в эти 90 секунд: заранее открыть Swagger, нажать GET /health, Try it out, Execute. Команда запуска и результат — в README. Если слот короче, показать прямой ответ /health.</a:t>
            </a:r>
          </a:p>
          <a:p xmlns:a="http://schemas.openxmlformats.org/drawingml/2006/main">
            <a:r>
              <a:t/>
            </a:r>
          </a:p>
          <a:p xmlns:a="http://schemas.openxmlformats.org/drawingml/2006/main">
            <a:r>
              <a:t>Слайд 1: 45 секунд.</a:t>
            </a:r>
          </a:p>
          <a:p xmlns:a="http://schemas.openxmlformats.org/drawingml/2006/main">
            <a:r>
              <a:t>Источник: https://github.com/Xausdorf/rbpo-georgik/blob/bfbadec6e6d7588e0e58f7a24a2656b4ebfa9e3e/PROJECT.md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M1: продукт и запуск, слайды 1–2, 90 секунд</a:t>
            </a:r>
          </a:p>
          <a:p xmlns:a="http://schemas.openxmlformats.org/drawingml/2006/main">
            <a:r>
              <a:t/>
            </a:r>
          </a:p>
          <a:p xmlns:a="http://schemas.openxmlformats.org/drawingml/2006/main">
            <a:r>
              <a:t>&gt; Наш продукт GetFast — серверное API городской доставки посылок. Отправитель оформляет посылку, диспетчер назначает курьера, курьер забирает и вручает её по коду. Получатель может узнать статус по трек-номеру без регистрации. Оплата, карты и мобильное приложение находятся за границей проекта. Работаем с учебными данными.</a:t>
            </a:r>
          </a:p>
          <a:p xmlns:a="http://schemas.openxmlformats.org/drawingml/2006/main">
            <a:r>
              <a:t>&gt;</a:t>
            </a:r>
          </a:p>
          <a:p xmlns:a="http://schemas.openxmlformats.org/drawingml/2006/main">
            <a:r>
              <a:t>&gt; В текущей основной ветке есть минимальная запускаемая основа: ASP.NET Core на .NET 10, подключение к PostgreSQL, контейнерный запуск и Swagger. Это позволяет уже сейчас подтвердить существование технического объекта, к которому относится концепция безопасности.</a:t>
            </a:r>
          </a:p>
          <a:p xmlns:a="http://schemas.openxmlformats.org/drawingml/2006/main">
            <a:r>
              <a:t>&gt;</a:t>
            </a:r>
          </a:p>
          <a:p xmlns:a="http://schemas.openxmlformats.org/drawingml/2006/main">
            <a:r>
              <a:t>&gt; Показываю GET /health. Если база доступна, сервер возвращает HTTP 200 и status healthy. Отрицательные проверки также предусмотрены: при недоступной базе ответ 503, без пароля или строки подключения в ответе. Документы пока описывают будущие защитные механизмы. Успешный health не доказывает защиту отправлений или кода получения.</a:t>
            </a:r>
          </a:p>
          <a:p xmlns:a="http://schemas.openxmlformats.org/drawingml/2006/main">
            <a:r>
              <a:t>&gt;</a:t>
            </a:r>
          </a:p>
          <a:p xmlns:a="http://schemas.openxmlformats.org/drawingml/2006/main">
            <a:r>
              <a:t>&gt; Основные риски связаны с адресами и телефонами, полномочиями сотрудников и ложным вручением посылки. Дальше покажем, как связываем эти риски с требованиями и решениями.</a:t>
            </a:r>
          </a:p>
          <a:p xmlns:a="http://schemas.openxmlformats.org/drawingml/2006/main">
            <a:r>
              <a:t/>
            </a:r>
          </a:p>
          <a:p xmlns:a="http://schemas.openxmlformats.org/drawingml/2006/main">
            <a:r>
              <a:t>Демо включено в эти 90 секунд: заранее открыть Swagger, нажать GET /health, Try it out, Execute. Команда запуска и результат — в README. Если слот короче, показать прямой ответ /health.</a:t>
            </a:r>
          </a:p>
          <a:p xmlns:a="http://schemas.openxmlformats.org/drawingml/2006/main">
            <a:r>
              <a:t/>
            </a:r>
          </a:p>
          <a:p xmlns:a="http://schemas.openxmlformats.org/drawingml/2006/main">
            <a:r>
              <a:t>Слайд 2: 45 секунд, включая запрос /health. Исходный код каркаса проверен на bfbadec6e6d7588e0e58f7a24a2656b4ebfa9e3e.</a:t>
            </a:r>
          </a:p>
          <a:p xmlns:a="http://schemas.openxmlformats.org/drawingml/2006/main">
            <a:r>
              <a:t>Источники: README и docs/ek1-verification.md в ветке m3/ek1-readiness. Открытый PR M1/auth-roles не включён в эту проверку.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M2: доверие и доступ, слайды 3–4, 90 секунд</a:t>
            </a:r>
          </a:p>
          <a:p xmlns:a="http://schemas.openxmlformats.org/drawingml/2006/main">
            <a:r>
              <a:t/>
            </a:r>
          </a:p>
          <a:p xmlns:a="http://schemas.openxmlformats.org/drawingml/2006/main">
            <a:r>
              <a:t>&gt; Пользователь может вызвать API напрямую и изменить запрос, поэтому интерфейс не является защитой. В нашей модели одна граница проходит между клиентом и сервером. Другая проходит между полномочиями ролей: курьер входит в систему, но не получает право на чужие задания. Публичное отслеживание имеет отдельную анонимную границу и должно раскрывать минимум сведений.</a:t>
            </a:r>
          </a:p>
          <a:p xmlns:a="http://schemas.openxmlformats.org/drawingml/2006/main">
            <a:r>
              <a:t>&gt;</a:t>
            </a:r>
          </a:p>
          <a:p xmlns:a="http://schemas.openxmlformats.org/drawingml/2006/main">
            <a:r>
              <a:t>&gt; В приоритетный набор входят подстановка чужого ID, выход курьера за свои задания, повышение роли, перебор и утечка кода. У них серьёзные последствия, а способ атаки доступен в основных сценариях.</a:t>
            </a:r>
          </a:p>
          <a:p xmlns:a="http://schemas.openxmlformats.org/drawingml/2006/main">
            <a:r>
              <a:t>&gt;</a:t>
            </a:r>
          </a:p>
          <a:p xmlns:a="http://schemas.openxmlformats.org/drawingml/2006/main">
            <a:r>
              <a:t>&gt; Для доступа к объектам цепочка такая: T-01 и T-02, затем SR-01 и SR-02, затем D-01. Сервер выбирает отправление сразу с условием владельца, а задание — с условием назначенного курьера и активного статуса. Чужой объект и отсутствующий объект дают одинаковый 404. GUID затрудняет угадывание, но не заменяет эту проверку.</a:t>
            </a:r>
          </a:p>
          <a:p xmlns:a="http://schemas.openxmlformats.org/drawingml/2006/main">
            <a:r>
              <a:t>&gt;</a:t>
            </a:r>
          </a:p>
          <a:p xmlns:a="http://schemas.openxmlformats.org/drawingml/2006/main">
            <a:r>
              <a:t>&gt; D-02 закрывает повышение роли: сервер сам назначает роль при регистрации, а группы методов требуют соответствующие полномочия. Проверка роли и проверка владельца нужны вместе. Будущая проверка D-01 сравнит доступ двух отправителей и двух курьеров, включая доступ после завершения задания. Эти проверки ещё не выполнены в текущем каркасе.</a:t>
            </a:r>
          </a:p>
          <a:p xmlns:a="http://schemas.openxmlformats.org/drawingml/2006/main">
            <a:r>
              <a:t/>
            </a:r>
          </a:p>
          <a:p xmlns:a="http://schemas.openxmlformats.org/drawingml/2006/main">
            <a:r>
              <a:t>Слайд 3: 45 секунд.</a:t>
            </a:r>
          </a:p>
          <a:p xmlns:a="http://schemas.openxmlformats.org/drawingml/2006/main">
            <a:r>
              <a:t>Источник: docs/threat-model.md, TB-1–TB-3; docs/security-requirements.md, SR-08. Архитектура предметных процессов является планом.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M2: доверие и доступ, слайды 3–4, 90 секунд</a:t>
            </a:r>
          </a:p>
          <a:p xmlns:a="http://schemas.openxmlformats.org/drawingml/2006/main">
            <a:r>
              <a:t/>
            </a:r>
          </a:p>
          <a:p xmlns:a="http://schemas.openxmlformats.org/drawingml/2006/main">
            <a:r>
              <a:t>&gt; Пользователь может вызвать API напрямую и изменить запрос, поэтому интерфейс не является защитой. В нашей модели одна граница проходит между клиентом и сервером. Другая проходит между полномочиями ролей: курьер входит в систему, но не получает право на чужие задания. Публичное отслеживание имеет отдельную анонимную границу и должно раскрывать минимум сведений.</a:t>
            </a:r>
          </a:p>
          <a:p xmlns:a="http://schemas.openxmlformats.org/drawingml/2006/main">
            <a:r>
              <a:t>&gt;</a:t>
            </a:r>
          </a:p>
          <a:p xmlns:a="http://schemas.openxmlformats.org/drawingml/2006/main">
            <a:r>
              <a:t>&gt; В приоритетный набор входят подстановка чужого ID, выход курьера за свои задания, повышение роли, перебор и утечка кода. У них серьёзные последствия, а способ атаки доступен в основных сценариях.</a:t>
            </a:r>
          </a:p>
          <a:p xmlns:a="http://schemas.openxmlformats.org/drawingml/2006/main">
            <a:r>
              <a:t>&gt;</a:t>
            </a:r>
          </a:p>
          <a:p xmlns:a="http://schemas.openxmlformats.org/drawingml/2006/main">
            <a:r>
              <a:t>&gt; Для доступа к объектам цепочка такая: T-01 и T-02, затем SR-01 и SR-02, затем D-01. Сервер выбирает отправление сразу с условием владельца, а задание — с условием назначенного курьера и активного статуса. Чужой объект и отсутствующий объект дают одинаковый 404. GUID затрудняет угадывание, но не заменяет эту проверку.</a:t>
            </a:r>
          </a:p>
          <a:p xmlns:a="http://schemas.openxmlformats.org/drawingml/2006/main">
            <a:r>
              <a:t>&gt;</a:t>
            </a:r>
          </a:p>
          <a:p xmlns:a="http://schemas.openxmlformats.org/drawingml/2006/main">
            <a:r>
              <a:t>&gt; D-02 закрывает повышение роли: сервер сам назначает роль при регистрации, а группы методов требуют соответствующие полномочия. Проверка роли и проверка владельца нужны вместе. Будущая проверка D-01 сравнит доступ двух отправителей и двух курьеров, включая доступ после завершения задания. Эти проверки ещё не выполнены в текущем каркасе.</a:t>
            </a:r>
          </a:p>
          <a:p xmlns:a="http://schemas.openxmlformats.org/drawingml/2006/main">
            <a:r>
              <a:t/>
            </a:r>
          </a:p>
          <a:p xmlns:a="http://schemas.openxmlformats.org/drawingml/2006/main">
            <a:r>
              <a:t>Слайд 4: 45 секунд.</a:t>
            </a:r>
          </a:p>
          <a:p xmlns:a="http://schemas.openxmlformats.org/drawingml/2006/main">
            <a:r>
              <a:t>Источники: docs/design-decisions.md, D-01/D-02; docs/threat-model.md, приоритетный набор T-01, T-02, T-03, T-06, T-10. Проверка: два отправителя и два курьера, свой/чужой/завершённый объект. В main эти механизмы пока не реализованы.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M3: код получения, слайды 5–6, 90 секунд</a:t>
            </a:r>
          </a:p>
          <a:p xmlns:a="http://schemas.openxmlformats.org/drawingml/2006/main">
            <a:r>
              <a:t/>
            </a:r>
          </a:p>
          <a:p xmlns:a="http://schemas.openxmlformats.org/drawingml/2006/main">
            <a:r>
              <a:t>&gt; Моя цепочка относится к коду получения. T-03 — курьер перебирает код и отмечает вручение без получателя. T-10 — код утекает из карточки, базы или журнала. SR-06 требует верный одноразовый код и блокировку после пяти ошибок. SR-07 ограничивает выдачу кода владельцем и запрещает его хранение в восстановимом виде.</a:t>
            </a:r>
          </a:p>
          <a:p xmlns:a="http://schemas.openxmlformats.org/drawingml/2006/main">
            <a:r>
              <a:t>&gt;</a:t>
            </a:r>
          </a:p>
          <a:p xmlns:a="http://schemas.openxmlformats.org/drawingml/2006/main">
            <a:r>
              <a:t>&gt; В D-03 мы выбрали шесть случайных цифр и хранение HMAC-SHA256 от идентификатора отправления и кода. HMAC использует секретный ключ вне базы. Обычный хеш короткого кода позволяет проверить все миллион вариантов по украденной базе. HMAC без ключа такой проверки не даёт. Код показываем владельцу один раз. Если он потерян, владелец получает новый, а старый перестаёт действовать.</a:t>
            </a:r>
          </a:p>
          <a:p xmlns:a="http://schemas.openxmlformats.org/drawingml/2006/main">
            <a:r>
              <a:t>&gt;</a:t>
            </a:r>
          </a:p>
          <a:p xmlns:a="http://schemas.openxmlformats.org/drawingml/2006/main">
            <a:r>
              <a:t>&gt; Контрпример: если разрешить показывать код в карточке постоянно, сервер должен хранить его в восстановимом виде. Ошибка ответа диспетчеру раскрыла бы действующие коды. Поэтому мы сравнили шифрование с одноразовым показом и выбрали второй вариант, приняв неудобство перевыпуска.</a:t>
            </a:r>
          </a:p>
          <a:p xmlns:a="http://schemas.openxmlformats.org/drawingml/2006/main">
            <a:r>
              <a:t>&gt;</a:t>
            </a:r>
          </a:p>
          <a:p xmlns:a="http://schemas.openxmlformats.org/drawingml/2006/main">
            <a:r>
              <a:t>&gt; Счётчик ошибок, статус и событие журнала планируем сохранять одной транзакцией с проверкой версии строки. Десять параллельных неверных запросов не должны обходить лимит пяти. Перевыпуск не обнуляет счётчик. Проверим также старый и новый код, отсутствие кода в ответах и журналах, забор против отмены. Это план механизма, реализация D-03 ещё впереди.</a:t>
            </a:r>
          </a:p>
          <a:p xmlns:a="http://schemas.openxmlformats.org/drawingml/2006/main">
            <a:r>
              <a:t/>
            </a:r>
          </a:p>
          <a:p xmlns:a="http://schemas.openxmlformats.org/drawingml/2006/main">
            <a:r>
              <a:t>Слайд 5: 45 секунд.</a:t>
            </a:r>
          </a:p>
          <a:p xmlns:a="http://schemas.openxmlformats.org/drawingml/2006/main">
            <a:r>
              <a:t>Источник: docs/design-decisions.md, D-03; docs/security-requirements.md, SR-06/SR-07. Код не сохраняется в открытом виде. Сравнение HMAC выполняется за постоянное время. D-03 пока не реализован.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M3: код получения, слайды 5–6, 90 секунд</a:t>
            </a:r>
          </a:p>
          <a:p xmlns:a="http://schemas.openxmlformats.org/drawingml/2006/main">
            <a:r>
              <a:t/>
            </a:r>
          </a:p>
          <a:p xmlns:a="http://schemas.openxmlformats.org/drawingml/2006/main">
            <a:r>
              <a:t>&gt; Моя цепочка относится к коду получения. T-03 — курьер перебирает код и отмечает вручение без получателя. T-10 — код утекает из карточки, базы или журнала. SR-06 требует верный одноразовый код и блокировку после пяти ошибок. SR-07 ограничивает выдачу кода владельцем и запрещает его хранение в восстановимом виде.</a:t>
            </a:r>
          </a:p>
          <a:p xmlns:a="http://schemas.openxmlformats.org/drawingml/2006/main">
            <a:r>
              <a:t>&gt;</a:t>
            </a:r>
          </a:p>
          <a:p xmlns:a="http://schemas.openxmlformats.org/drawingml/2006/main">
            <a:r>
              <a:t>&gt; В D-03 мы выбрали шесть случайных цифр и хранение HMAC-SHA256 от идентификатора отправления и кода. HMAC использует секретный ключ вне базы. Обычный хеш короткого кода позволяет проверить все миллион вариантов по украденной базе. HMAC без ключа такой проверки не даёт. Код показываем владельцу один раз. Если он потерян, владелец получает новый, а старый перестаёт действовать.</a:t>
            </a:r>
          </a:p>
          <a:p xmlns:a="http://schemas.openxmlformats.org/drawingml/2006/main">
            <a:r>
              <a:t>&gt;</a:t>
            </a:r>
          </a:p>
          <a:p xmlns:a="http://schemas.openxmlformats.org/drawingml/2006/main">
            <a:r>
              <a:t>&gt; Контрпример: если разрешить показывать код в карточке постоянно, сервер должен хранить его в восстановимом виде. Ошибка ответа диспетчеру раскрыла бы действующие коды. Поэтому мы сравнили шифрование с одноразовым показом и выбрали второй вариант, приняв неудобство перевыпуска.</a:t>
            </a:r>
          </a:p>
          <a:p xmlns:a="http://schemas.openxmlformats.org/drawingml/2006/main">
            <a:r>
              <a:t>&gt;</a:t>
            </a:r>
          </a:p>
          <a:p xmlns:a="http://schemas.openxmlformats.org/drawingml/2006/main">
            <a:r>
              <a:t>&gt; Счётчик ошибок, статус и событие журнала планируем сохранять одной транзакцией с проверкой версии строки. Десять параллельных неверных запросов не должны обходить лимит пяти. Перевыпуск не обнуляет счётчик. Проверим также старый и новый код, отсутствие кода в ответах и журналах, забор против отмены. Это план механизма, реализация D-03 ещё впереди.</a:t>
            </a:r>
          </a:p>
          <a:p xmlns:a="http://schemas.openxmlformats.org/drawingml/2006/main">
            <a:r>
              <a:t/>
            </a:r>
          </a:p>
          <a:p xmlns:a="http://schemas.openxmlformats.org/drawingml/2006/main">
            <a:r>
              <a:t>Слайд 6: 45 секунд.</a:t>
            </a:r>
          </a:p>
          <a:p xmlns:a="http://schemas.openxmlformats.org/drawingml/2006/main">
            <a:r>
              <a:t>Источник: docs/design-decisions.md, альтернативы и контрпример D-03, будущие проверки 3/4/7/8. Статус, попытки и событие планируем фиксировать одной транзакцией с xmin. Будущие проверки не являются проведёнными тестами.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b5a66fe7e046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28ecb62a8b4af0" /><Relationship Type="http://schemas.openxmlformats.org/officeDocument/2006/relationships/slideLayout" Target="/ppt/slideLayouts/slideLayout1.xml" Id="R38d043139fd246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d043139fd246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7718ad92344b69" /><Relationship Type="http://schemas.openxmlformats.org/officeDocument/2006/relationships/notesSlide" Target="/ppt/notesSlides/notesSlide1.xml" Id="R12f682129fde49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87cec1d3d14454" /><Relationship Type="http://schemas.openxmlformats.org/officeDocument/2006/relationships/image" Target="/ppt/media/image.jpeg" Id="Ra27cc38b3ffc4d25" /><Relationship Type="http://schemas.openxmlformats.org/officeDocument/2006/relationships/notesSlide" Target="/ppt/notesSlides/notesSlide2.xml" Id="Rd540442749e54c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a58f7741fc4337" /><Relationship Type="http://schemas.openxmlformats.org/officeDocument/2006/relationships/notesSlide" Target="/ppt/notesSlides/notesSlide3.xml" Id="Ra68f81697bd64d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514e8132804102" /><Relationship Type="http://schemas.openxmlformats.org/officeDocument/2006/relationships/notesSlide" Target="/ppt/notesSlides/notesSlide4.xml" Id="Rdbddbf47582e4e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0118ccd7384cdd" /><Relationship Type="http://schemas.openxmlformats.org/officeDocument/2006/relationships/notesSlide" Target="/ppt/notesSlides/notesSlide5.xml" Id="Rb8924e4304274c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6f1f980c734390" /><Relationship Type="http://schemas.openxmlformats.org/officeDocument/2006/relationships/notesSlide" Target="/ppt/notesSlides/notesSlide6.xml" Id="R9498c54c3daa415a" /></Relationships>
</file>

<file path=ppt/slides/slide1.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64032C5-3147-4AAB-9F8F-DE3EDD99854A}"/>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GetFast</a:t>
            </a:r>
          </a:p>
        </p:txBody>
      </p:sp>
      <p:sp>
        <p:nvSpPr>
          <p:cNvPr id="2" name="">
            <a:extLst xmlns:a="http://schemas.openxmlformats.org/drawingml/2006/main">
              <a:ext uri="{FF2B5EF4-FFF2-40B4-BE49-F238E27FC236}">
                <a16:creationId xmlns:a16="http://schemas.microsoft.com/office/drawing/2014/main" id="{18E68CF3-71F4-4F5D-8098-CC5A884E92E9}"/>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5C1CD"/>
                </a:solidFill>
                <a:latin typeface="Helvetica Neue"/>
                <a:ea typeface="Helvetica Neue"/>
                <a:cs typeface="Helvetica Neue"/>
              </a:defRPr>
            </a:pPr>
            <a:r>
              <a:rPr sz="1725" b="0">
                <a:solidFill>
                  <a:srgbClr val="B5C1CD"/>
                </a:solidFill>
                <a:latin typeface="Helvetica Neue"/>
                <a:ea typeface="Helvetica Neue"/>
                <a:cs typeface="Helvetica Neue"/>
              </a:rPr>
              <a:t>M1 · 1/6</a:t>
            </a:r>
          </a:p>
        </p:txBody>
      </p:sp>
      <p:sp>
        <p:nvSpPr>
          <p:cNvPr id="3" name="">
            <a:extLst xmlns:a="http://schemas.openxmlformats.org/drawingml/2006/main">
              <a:ext uri="{FF2B5EF4-FFF2-40B4-BE49-F238E27FC236}">
                <a16:creationId xmlns:a16="http://schemas.microsoft.com/office/drawing/2014/main" id="{18DF32FC-187E-4BE7-A01E-5EB63529E634}"/>
              </a:ext>
            </a:extLst>
          </p:cNvPr>
          <p:cNvSpPr>
            <a:spLocks xmlns:a="http://schemas.openxmlformats.org/drawingml/2006/main" noGrp="1"/>
          </p:cNvSpPr>
          <p:nvPr/>
        </p:nvSpPr>
        <p:spPr>
          <a:xfrm xmlns:a="http://schemas.openxmlformats.org/drawingml/2006/main">
            <a:off x="685800" y="2000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FFFFFF"/>
                </a:solidFill>
                <a:latin typeface="Helvetica Neue"/>
                <a:ea typeface="Helvetica Neue"/>
                <a:cs typeface="Helvetica Neue"/>
              </a:defRPr>
            </a:pPr>
            <a:r>
              <a:rPr sz="3150" b="0">
                <a:solidFill>
                  <a:srgbClr val="FFFFFF"/>
                </a:solidFill>
                <a:latin typeface="Helvetica Neue"/>
                <a:ea typeface="Helvetica Neue"/>
                <a:cs typeface="Helvetica Neue"/>
              </a:rPr>
              <a:t>API городской доставки посылок</a:t>
            </a:r>
          </a:p>
        </p:txBody>
      </p:sp>
      <p:sp>
        <p:nvSpPr>
          <p:cNvPr id="4" name="">
            <a:extLst xmlns:a="http://schemas.openxmlformats.org/drawingml/2006/main">
              <a:ext uri="{FF2B5EF4-FFF2-40B4-BE49-F238E27FC236}">
                <a16:creationId xmlns:a16="http://schemas.microsoft.com/office/drawing/2014/main" id="{DF88D27C-8CCB-45AA-9978-95C55A408B7E}"/>
              </a:ext>
            </a:extLst>
          </p:cNvPr>
          <p:cNvSpPr>
            <a:spLocks xmlns:a="http://schemas.openxmlformats.org/drawingml/2006/main" noGrp="1"/>
          </p:cNvSpPr>
          <p:nvPr/>
        </p:nvSpPr>
        <p:spPr>
          <a:xfrm xmlns:a="http://schemas.openxmlformats.org/drawingml/2006/main">
            <a:off x="685800" y="3190875"/>
            <a:ext cx="1038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9E2EB"/>
                </a:solidFill>
                <a:latin typeface="Helvetica Neue"/>
                <a:ea typeface="Helvetica Neue"/>
                <a:cs typeface="Helvetica Neue"/>
              </a:defRPr>
            </a:pPr>
            <a:r>
              <a:rPr sz="2400" b="0">
                <a:solidFill>
                  <a:srgbClr val="D9E2EB"/>
                </a:solidFill>
                <a:latin typeface="Helvetica Neue"/>
                <a:ea typeface="Helvetica Neue"/>
                <a:cs typeface="Helvetica Neue"/>
              </a:rPr>
              <a:t>Отправитель оформляет. Диспетчер назначает.</a:t>
            </a:r>
          </a:p>
          <a:p xmlns:a="http://schemas.openxmlformats.org/drawingml/2006/main">
            <a:pPr>
              <a:defRPr sz="2400" b="0">
                <a:solidFill>
                  <a:srgbClr val="D9E2EB"/>
                </a:solidFill>
                <a:latin typeface="Helvetica Neue"/>
                <a:ea typeface="Helvetica Neue"/>
                <a:cs typeface="Helvetica Neue"/>
              </a:defRPr>
            </a:pPr>
            <a:r>
              <a:rPr sz="2400" b="0">
                <a:solidFill>
                  <a:srgbClr val="D9E2EB"/>
                </a:solidFill>
                <a:latin typeface="Helvetica Neue"/>
                <a:ea typeface="Helvetica Neue"/>
                <a:cs typeface="Helvetica Neue"/>
              </a:rPr>
              <a:t>Курьер вручает по коду. Получатель отслеживает.</a:t>
            </a:r>
          </a:p>
        </p:txBody>
      </p:sp>
      <p:sp>
        <p:nvSpPr>
          <p:cNvPr id="5" name="">
            <a:extLst xmlns:a="http://schemas.openxmlformats.org/drawingml/2006/main">
              <a:ext uri="{FF2B5EF4-FFF2-40B4-BE49-F238E27FC236}">
                <a16:creationId xmlns:a16="http://schemas.microsoft.com/office/drawing/2014/main" id="{CDFF8784-A384-45BA-A66E-DC898645B4A7}"/>
              </a:ext>
            </a:extLst>
          </p:cNvPr>
          <p:cNvSpPr>
            <a:spLocks xmlns:a="http://schemas.openxmlformats.org/drawingml/2006/main" noGrp="1"/>
          </p:cNvSpPr>
          <p:nvPr/>
        </p:nvSpPr>
        <p:spPr>
          <a:xfrm xmlns:a="http://schemas.openxmlformats.org/drawingml/2006/main">
            <a:off x="685800" y="509587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4AD66"/>
                </a:solidFill>
                <a:latin typeface="Helvetica Neue"/>
                <a:ea typeface="Helvetica Neue"/>
                <a:cs typeface="Helvetica Neue"/>
              </a:defRPr>
            </a:pPr>
            <a:r>
              <a:rPr sz="2025" b="0">
                <a:solidFill>
                  <a:srgbClr val="D4AD66"/>
                </a:solidFill>
                <a:latin typeface="Helvetica Neue"/>
                <a:ea typeface="Helvetica Neue"/>
                <a:cs typeface="Helvetica Neue"/>
              </a:rPr>
              <a:t>Команда georgik</a:t>
            </a:r>
          </a:p>
          <a:p xmlns:a="http://schemas.openxmlformats.org/drawingml/2006/main">
            <a:pPr>
              <a:defRPr sz="2025" b="0">
                <a:solidFill>
                  <a:srgbClr val="D4AD66"/>
                </a:solidFill>
                <a:latin typeface="Helvetica Neue"/>
                <a:ea typeface="Helvetica Neue"/>
                <a:cs typeface="Helvetica Neue"/>
              </a:defRPr>
            </a:pPr>
            <a:r>
              <a:rPr sz="2025" b="0">
                <a:solidFill>
                  <a:srgbClr val="D4AD66"/>
                </a:solidFill>
                <a:latin typeface="Helvetica Neue"/>
                <a:ea typeface="Helvetica Neue"/>
                <a:cs typeface="Helvetica Neue"/>
              </a:rPr>
              <a:t>РБПО · EK1 · Концепция безопасности</a:t>
            </a:r>
          </a:p>
        </p:txBody>
      </p:sp>
    </p:spTree>
    <p:extLst>
      <p:ext uri="{BB962C8B-B14F-4D97-AF65-F5344CB8AC3E}">
        <p14:creationId xmlns:p14="http://schemas.microsoft.com/office/powerpoint/2010/main" val="1822679679"/>
      </p:ext>
    </p:extLst>
  </p:cSld>
</p:sld>
</file>

<file path=ppt/slides/slide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A70F1B-A7F5-48F3-A13D-C1CB50DA8F07}"/>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048"/>
                </a:solidFill>
                <a:latin typeface="Helvetica Neue"/>
                <a:ea typeface="Helvetica Neue"/>
                <a:cs typeface="Helvetica Neue"/>
              </a:defRPr>
            </a:pPr>
            <a:r>
              <a:rPr sz="3600" b="1">
                <a:solidFill>
                  <a:srgbClr val="153048"/>
                </a:solidFill>
                <a:latin typeface="Helvetica Neue"/>
                <a:ea typeface="Helvetica Neue"/>
                <a:cs typeface="Helvetica Neue"/>
              </a:rPr>
              <a:t>Запускаемая основа</a:t>
            </a:r>
          </a:p>
        </p:txBody>
      </p:sp>
      <p:sp>
        <p:nvSpPr>
          <p:cNvPr id="2" name="">
            <a:extLst xmlns:a="http://schemas.openxmlformats.org/drawingml/2006/main">
              <a:ext uri="{FF2B5EF4-FFF2-40B4-BE49-F238E27FC236}">
                <a16:creationId xmlns:a16="http://schemas.microsoft.com/office/drawing/2014/main" id="{10744B42-7FBD-4E22-B019-F47A1E5BD39A}"/>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482"/>
                </a:solidFill>
                <a:latin typeface="Helvetica Neue"/>
                <a:ea typeface="Helvetica Neue"/>
                <a:cs typeface="Helvetica Neue"/>
              </a:defRPr>
            </a:pPr>
            <a:r>
              <a:rPr sz="1725" b="0">
                <a:solidFill>
                  <a:srgbClr val="657482"/>
                </a:solidFill>
                <a:latin typeface="Helvetica Neue"/>
                <a:ea typeface="Helvetica Neue"/>
                <a:cs typeface="Helvetica Neue"/>
              </a:rPr>
              <a:t>M1 · 2/6</a:t>
            </a:r>
          </a:p>
        </p:txBody>
      </p:sp>
      <p:sp>
        <p:nvSpPr>
          <p:cNvPr id="3" name="">
            <a:extLst xmlns:a="http://schemas.openxmlformats.org/drawingml/2006/main">
              <a:ext uri="{FF2B5EF4-FFF2-40B4-BE49-F238E27FC236}">
                <a16:creationId xmlns:a16="http://schemas.microsoft.com/office/drawing/2014/main" id="{4C6AE028-08E5-42F9-9654-DA1BCB02C282}"/>
              </a:ext>
            </a:extLst>
          </p:cNvPr>
          <p:cNvSpPr>
            <a:spLocks xmlns:a="http://schemas.openxmlformats.org/drawingml/2006/main" noGrp="1"/>
          </p:cNvSpPr>
          <p:nvPr/>
        </p:nvSpPr>
        <p:spPr>
          <a:xfrm xmlns:a="http://schemas.openxmlformats.org/drawingml/2006/main">
            <a:off x="685800" y="1962150"/>
            <a:ext cx="676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3048"/>
                </a:solidFill>
                <a:latin typeface="Helvetica Neue"/>
                <a:ea typeface="Helvetica Neue"/>
                <a:cs typeface="Helvetica Neue"/>
              </a:defRPr>
            </a:pPr>
            <a:r>
              <a:rPr sz="2400" b="0">
                <a:solidFill>
                  <a:srgbClr val="153048"/>
                </a:solidFill>
                <a:latin typeface="Helvetica Neue"/>
                <a:ea typeface="Helvetica Neue"/>
                <a:cs typeface="Helvetica Neue"/>
              </a:rPr>
              <a:t>ASP.NET Core / .NET 10</a:t>
            </a:r>
          </a:p>
          <a:p xmlns:a="http://schemas.openxmlformats.org/drawingml/2006/main">
            <a:pPr>
              <a:defRPr sz="2400" b="0">
                <a:solidFill>
                  <a:srgbClr val="153048"/>
                </a:solidFill>
                <a:latin typeface="Helvetica Neue"/>
                <a:ea typeface="Helvetica Neue"/>
                <a:cs typeface="Helvetica Neue"/>
              </a:defRPr>
            </a:pPr>
            <a:r>
              <a:rPr sz="2400" b="0">
                <a:solidFill>
                  <a:srgbClr val="153048"/>
                </a:solidFill>
                <a:latin typeface="Helvetica Neue"/>
                <a:ea typeface="Helvetica Neue"/>
                <a:cs typeface="Helvetica Neue"/>
              </a:rPr>
              <a:t>PostgreSQL / EF Core</a:t>
            </a:r>
          </a:p>
          <a:p xmlns:a="http://schemas.openxmlformats.org/drawingml/2006/main">
            <a:pPr>
              <a:defRPr sz="2400" b="0">
                <a:solidFill>
                  <a:srgbClr val="153048"/>
                </a:solidFill>
                <a:latin typeface="Helvetica Neue"/>
                <a:ea typeface="Helvetica Neue"/>
                <a:cs typeface="Helvetica Neue"/>
              </a:defRPr>
            </a:pPr>
            <a:r>
              <a:rPr sz="2400" b="0">
                <a:solidFill>
                  <a:srgbClr val="153048"/>
                </a:solidFill>
                <a:latin typeface="Helvetica Neue"/>
                <a:ea typeface="Helvetica Neue"/>
                <a:cs typeface="Helvetica Neue"/>
              </a:rPr>
              <a:t>Docker Compose / Swagger</a:t>
            </a:r>
          </a:p>
        </p:txBody>
      </p:sp>
      <p:sp>
        <p:nvSpPr>
          <p:cNvPr id="4" name="">
            <a:extLst xmlns:a="http://schemas.openxmlformats.org/drawingml/2006/main">
              <a:ext uri="{FF2B5EF4-FFF2-40B4-BE49-F238E27FC236}">
                <a16:creationId xmlns:a16="http://schemas.microsoft.com/office/drawing/2014/main" id="{5715F578-BC16-444A-A788-F4C031D74D60}"/>
              </a:ext>
            </a:extLst>
          </p:cNvPr>
          <p:cNvSpPr>
            <a:spLocks xmlns:a="http://schemas.openxmlformats.org/drawingml/2006/main" noGrp="1"/>
          </p:cNvSpPr>
          <p:nvPr/>
        </p:nvSpPr>
        <p:spPr>
          <a:xfrm xmlns:a="http://schemas.openxmlformats.org/drawingml/2006/main">
            <a:off x="685800" y="37814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048"/>
                </a:solidFill>
                <a:latin typeface="Helvetica Neue"/>
                <a:ea typeface="Helvetica Neue"/>
                <a:cs typeface="Helvetica Neue"/>
              </a:defRPr>
            </a:pPr>
            <a:r>
              <a:rPr sz="2700" b="1">
                <a:solidFill>
                  <a:srgbClr val="153048"/>
                </a:solidFill>
                <a:latin typeface="Helvetica Neue"/>
                <a:ea typeface="Helvetica Neue"/>
                <a:cs typeface="Helvetica Neue"/>
              </a:rPr>
              <a:t>GET /health</a:t>
            </a:r>
          </a:p>
        </p:txBody>
      </p:sp>
      <p:sp>
        <p:nvSpPr>
          <p:cNvPr id="5" name="">
            <a:extLst xmlns:a="http://schemas.openxmlformats.org/drawingml/2006/main">
              <a:ext uri="{FF2B5EF4-FFF2-40B4-BE49-F238E27FC236}">
                <a16:creationId xmlns:a16="http://schemas.microsoft.com/office/drawing/2014/main" id="{1B193383-D3B1-4689-9394-433305A09B13}"/>
              </a:ext>
            </a:extLst>
          </p:cNvPr>
          <p:cNvSpPr>
            <a:spLocks xmlns:a="http://schemas.openxmlformats.org/drawingml/2006/main" noGrp="1"/>
          </p:cNvSpPr>
          <p:nvPr/>
        </p:nvSpPr>
        <p:spPr>
          <a:xfrm xmlns:a="http://schemas.openxmlformats.org/drawingml/2006/main">
            <a:off x="685800" y="4381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048"/>
                </a:solidFill>
                <a:latin typeface="Helvetica Neue"/>
                <a:ea typeface="Helvetica Neue"/>
                <a:cs typeface="Helvetica Neue"/>
              </a:defRPr>
            </a:pPr>
            <a:r>
              <a:rPr sz="2325" b="0">
                <a:solidFill>
                  <a:srgbClr val="153048"/>
                </a:solidFill>
                <a:latin typeface="Helvetica Neue"/>
                <a:ea typeface="Helvetica Neue"/>
                <a:cs typeface="Helvetica Neue"/>
              </a:rPr>
              <a:t>HTTP 200   {"status":"healthy"}</a:t>
            </a:r>
          </a:p>
        </p:txBody>
      </p:sp>
      <p:sp>
        <p:nvSpPr>
          <p:cNvPr id="6" name="">
            <a:extLst xmlns:a="http://schemas.openxmlformats.org/drawingml/2006/main">
              <a:ext uri="{FF2B5EF4-FFF2-40B4-BE49-F238E27FC236}">
                <a16:creationId xmlns:a16="http://schemas.microsoft.com/office/drawing/2014/main" id="{DE10A897-BF2D-45AE-9593-FB76A7BB8786}"/>
              </a:ext>
            </a:extLst>
          </p:cNvPr>
          <p:cNvSpPr>
            <a:spLocks xmlns:a="http://schemas.openxmlformats.org/drawingml/2006/main" noGrp="1"/>
          </p:cNvSpPr>
          <p:nvPr/>
        </p:nvSpPr>
        <p:spPr>
          <a:xfrm xmlns:a="http://schemas.openxmlformats.org/drawingml/2006/main">
            <a:off x="685800" y="5276850"/>
            <a:ext cx="714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482"/>
                </a:solidFill>
                <a:latin typeface="Helvetica Neue"/>
                <a:ea typeface="Helvetica Neue"/>
                <a:cs typeface="Helvetica Neue"/>
              </a:defRPr>
            </a:pPr>
            <a:r>
              <a:rPr sz="1875" b="0">
                <a:solidFill>
                  <a:srgbClr val="657482"/>
                </a:solidFill>
                <a:latin typeface="Helvetica Neue"/>
                <a:ea typeface="Helvetica Neue"/>
                <a:cs typeface="Helvetica Neue"/>
              </a:rPr>
              <a:t>Сборка без ошибок. 7 тестов прошли.</a:t>
            </a:r>
          </a:p>
          <a:p xmlns:a="http://schemas.openxmlformats.org/drawingml/2006/main">
            <a:pPr>
              <a:defRPr sz="1875" b="0">
                <a:solidFill>
                  <a:srgbClr val="657482"/>
                </a:solidFill>
                <a:latin typeface="Helvetica Neue"/>
                <a:ea typeface="Helvetica Neue"/>
                <a:cs typeface="Helvetica Neue"/>
              </a:defRPr>
            </a:pPr>
            <a:r>
              <a:rPr sz="1875" b="0">
                <a:solidFill>
                  <a:srgbClr val="657482"/>
                </a:solidFill>
                <a:latin typeface="Helvetica Neue"/>
                <a:ea typeface="Helvetica Neue"/>
                <a:cs typeface="Helvetica Neue"/>
              </a:rPr>
              <a:t>D-01–D-03 пока описаны как план.</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27cc38b3ffc4d25"/>
          <a:stretch xmlns:a="http://schemas.openxmlformats.org/drawingml/2006/main"/>
        </p:blipFill>
        <p:spPr>
          <a:xfrm xmlns:a="http://schemas.openxmlformats.org/drawingml/2006/main">
            <a:off x="8472505" y="1809750"/>
            <a:ext cx="2866990" cy="4191000"/>
          </a:xfrm>
          <a:prstGeom xmlns:a="http://schemas.openxmlformats.org/drawingml/2006/main" prst="rect">
            <a:avLst/>
          </a:prstGeom>
        </p:spPr>
      </p:pic>
    </p:spTree>
    <p:extLst>
      <p:ext uri="{BB962C8B-B14F-4D97-AF65-F5344CB8AC3E}">
        <p14:creationId xmlns:p14="http://schemas.microsoft.com/office/powerpoint/2010/main" val="892501743"/>
      </p:ext>
    </p:extLst>
  </p:cSld>
</p:sld>
</file>

<file path=ppt/slides/slide3.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4864AD-909F-4834-A5FF-A88346B985E9}"/>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048"/>
                </a:solidFill>
                <a:latin typeface="Helvetica Neue"/>
                <a:ea typeface="Helvetica Neue"/>
                <a:cs typeface="Helvetica Neue"/>
              </a:defRPr>
            </a:pPr>
            <a:r>
              <a:rPr sz="3600" b="1">
                <a:solidFill>
                  <a:srgbClr val="153048"/>
                </a:solidFill>
                <a:latin typeface="Helvetica Neue"/>
                <a:ea typeface="Helvetica Neue"/>
                <a:cs typeface="Helvetica Neue"/>
              </a:rPr>
              <a:t>Границы доверия</a:t>
            </a:r>
          </a:p>
        </p:txBody>
      </p:sp>
      <p:sp>
        <p:nvSpPr>
          <p:cNvPr id="2" name="">
            <a:extLst xmlns:a="http://schemas.openxmlformats.org/drawingml/2006/main">
              <a:ext uri="{FF2B5EF4-FFF2-40B4-BE49-F238E27FC236}">
                <a16:creationId xmlns:a16="http://schemas.microsoft.com/office/drawing/2014/main" id="{E15C292C-CB91-4284-8423-A9C40AFFB149}"/>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482"/>
                </a:solidFill>
                <a:latin typeface="Helvetica Neue"/>
                <a:ea typeface="Helvetica Neue"/>
                <a:cs typeface="Helvetica Neue"/>
              </a:defRPr>
            </a:pPr>
            <a:r>
              <a:rPr sz="1725" b="0">
                <a:solidFill>
                  <a:srgbClr val="657482"/>
                </a:solidFill>
                <a:latin typeface="Helvetica Neue"/>
                <a:ea typeface="Helvetica Neue"/>
                <a:cs typeface="Helvetica Neue"/>
              </a:rPr>
              <a:t>M2 · 3/6</a:t>
            </a:r>
          </a:p>
        </p:txBody>
      </p:sp>
      <p:sp>
        <p:nvSpPr>
          <p:cNvPr id="3" name="">
            <a:extLst xmlns:a="http://schemas.openxmlformats.org/drawingml/2006/main">
              <a:ext uri="{FF2B5EF4-FFF2-40B4-BE49-F238E27FC236}">
                <a16:creationId xmlns:a16="http://schemas.microsoft.com/office/drawing/2014/main" id="{BAAC613D-9A84-480E-A0A1-3AB9A175681B}"/>
              </a:ext>
            </a:extLst>
          </p:cNvPr>
          <p:cNvSpPr>
            <a:spLocks xmlns:a="http://schemas.openxmlformats.org/drawingml/2006/main" noGrp="1"/>
          </p:cNvSpPr>
          <p:nvPr/>
        </p:nvSpPr>
        <p:spPr>
          <a:xfrm xmlns:a="http://schemas.openxmlformats.org/drawingml/2006/main">
            <a:off x="685800" y="18859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048"/>
                </a:solidFill>
                <a:latin typeface="Helvetica Neue"/>
                <a:ea typeface="Helvetica Neue"/>
                <a:cs typeface="Helvetica Neue"/>
              </a:defRPr>
            </a:pPr>
            <a:r>
              <a:rPr sz="2400" b="1">
                <a:solidFill>
                  <a:srgbClr val="153048"/>
                </a:solidFill>
                <a:latin typeface="Helvetica Neue"/>
                <a:ea typeface="Helvetica Neue"/>
                <a:cs typeface="Helvetica Neue"/>
              </a:rPr>
              <a:t>Клиент и сервер</a:t>
            </a:r>
          </a:p>
        </p:txBody>
      </p:sp>
      <p:sp>
        <p:nvSpPr>
          <p:cNvPr id="4" name="">
            <a:extLst xmlns:a="http://schemas.openxmlformats.org/drawingml/2006/main">
              <a:ext uri="{FF2B5EF4-FFF2-40B4-BE49-F238E27FC236}">
                <a16:creationId xmlns:a16="http://schemas.microsoft.com/office/drawing/2014/main" id="{064DBBB2-4713-496F-B42D-AEDB79990A25}"/>
              </a:ext>
            </a:extLst>
          </p:cNvPr>
          <p:cNvSpPr>
            <a:spLocks xmlns:a="http://schemas.openxmlformats.org/drawingml/2006/main" noGrp="1"/>
          </p:cNvSpPr>
          <p:nvPr/>
        </p:nvSpPr>
        <p:spPr>
          <a:xfrm xmlns:a="http://schemas.openxmlformats.org/drawingml/2006/main">
            <a:off x="685800" y="24193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048"/>
                </a:solidFill>
                <a:latin typeface="Helvetica Neue"/>
                <a:ea typeface="Helvetica Neue"/>
                <a:cs typeface="Helvetica Neue"/>
              </a:defRPr>
            </a:pPr>
            <a:r>
              <a:rPr sz="2250" b="0">
                <a:solidFill>
                  <a:srgbClr val="153048"/>
                </a:solidFill>
                <a:latin typeface="Helvetica Neue"/>
                <a:ea typeface="Helvetica Neue"/>
                <a:cs typeface="Helvetica Neue"/>
              </a:rPr>
              <a:t>Любой пользователь может изменить HTTP-запрос.</a:t>
            </a:r>
          </a:p>
        </p:txBody>
      </p:sp>
      <p:sp>
        <p:nvSpPr>
          <p:cNvPr id="5" name="">
            <a:extLst xmlns:a="http://schemas.openxmlformats.org/drawingml/2006/main">
              <a:ext uri="{FF2B5EF4-FFF2-40B4-BE49-F238E27FC236}">
                <a16:creationId xmlns:a16="http://schemas.microsoft.com/office/drawing/2014/main" id="{953E1FCD-54E1-4ABA-A880-378A1D783ABE}"/>
              </a:ext>
            </a:extLst>
          </p:cNvPr>
          <p:cNvSpPr>
            <a:spLocks xmlns:a="http://schemas.openxmlformats.org/drawingml/2006/main" noGrp="1"/>
          </p:cNvSpPr>
          <p:nvPr/>
        </p:nvSpPr>
        <p:spPr>
          <a:xfrm xmlns:a="http://schemas.openxmlformats.org/drawingml/2006/main">
            <a:off x="685800" y="34861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048"/>
                </a:solidFill>
                <a:latin typeface="Helvetica Neue"/>
                <a:ea typeface="Helvetica Neue"/>
                <a:cs typeface="Helvetica Neue"/>
              </a:defRPr>
            </a:pPr>
            <a:r>
              <a:rPr sz="2400" b="1">
                <a:solidFill>
                  <a:srgbClr val="153048"/>
                </a:solidFill>
                <a:latin typeface="Helvetica Neue"/>
                <a:ea typeface="Helvetica Neue"/>
                <a:cs typeface="Helvetica Neue"/>
              </a:rPr>
              <a:t>Полномочия внутри API</a:t>
            </a:r>
          </a:p>
        </p:txBody>
      </p:sp>
      <p:sp>
        <p:nvSpPr>
          <p:cNvPr id="6" name="">
            <a:extLst xmlns:a="http://schemas.openxmlformats.org/drawingml/2006/main">
              <a:ext uri="{FF2B5EF4-FFF2-40B4-BE49-F238E27FC236}">
                <a16:creationId xmlns:a16="http://schemas.microsoft.com/office/drawing/2014/main" id="{41B64DCB-CDCB-4CD3-B747-B8F369A356D4}"/>
              </a:ext>
            </a:extLst>
          </p:cNvPr>
          <p:cNvSpPr>
            <a:spLocks xmlns:a="http://schemas.openxmlformats.org/drawingml/2006/main" noGrp="1"/>
          </p:cNvSpPr>
          <p:nvPr/>
        </p:nvSpPr>
        <p:spPr>
          <a:xfrm xmlns:a="http://schemas.openxmlformats.org/drawingml/2006/main">
            <a:off x="685800" y="40195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3048"/>
                </a:solidFill>
                <a:latin typeface="Helvetica Neue"/>
                <a:ea typeface="Helvetica Neue"/>
                <a:cs typeface="Helvetica Neue"/>
              </a:defRPr>
            </a:pPr>
            <a:r>
              <a:rPr sz="2250" b="0">
                <a:solidFill>
                  <a:srgbClr val="153048"/>
                </a:solidFill>
                <a:latin typeface="Helvetica Neue"/>
                <a:ea typeface="Helvetica Neue"/>
                <a:cs typeface="Helvetica Neue"/>
              </a:rPr>
              <a:t>Вход курьера разрешает только его активные задания.</a:t>
            </a:r>
          </a:p>
        </p:txBody>
      </p:sp>
      <p:sp>
        <p:nvSpPr>
          <p:cNvPr id="7" name="">
            <a:extLst xmlns:a="http://schemas.openxmlformats.org/drawingml/2006/main">
              <a:ext uri="{FF2B5EF4-FFF2-40B4-BE49-F238E27FC236}">
                <a16:creationId xmlns:a16="http://schemas.microsoft.com/office/drawing/2014/main" id="{6FB1EC09-343B-4980-9F0C-A14406672359}"/>
              </a:ext>
            </a:extLst>
          </p:cNvPr>
          <p:cNvSpPr>
            <a:spLocks xmlns:a="http://schemas.openxmlformats.org/drawingml/2006/main" noGrp="1"/>
          </p:cNvSpPr>
          <p:nvPr/>
        </p:nvSpPr>
        <p:spPr>
          <a:xfrm xmlns:a="http://schemas.openxmlformats.org/drawingml/2006/main">
            <a:off x="685800" y="50673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048"/>
                </a:solidFill>
                <a:latin typeface="Helvetica Neue"/>
                <a:ea typeface="Helvetica Neue"/>
                <a:cs typeface="Helvetica Neue"/>
              </a:defRPr>
            </a:pPr>
            <a:r>
              <a:rPr sz="2400" b="1">
                <a:solidFill>
                  <a:srgbClr val="153048"/>
                </a:solidFill>
                <a:latin typeface="Helvetica Neue"/>
                <a:ea typeface="Helvetica Neue"/>
                <a:cs typeface="Helvetica Neue"/>
              </a:rPr>
              <a:t>Публичное отслеживание</a:t>
            </a:r>
          </a:p>
        </p:txBody>
      </p:sp>
      <p:sp>
        <p:nvSpPr>
          <p:cNvPr id="8" name="">
            <a:extLst xmlns:a="http://schemas.openxmlformats.org/drawingml/2006/main">
              <a:ext uri="{FF2B5EF4-FFF2-40B4-BE49-F238E27FC236}">
                <a16:creationId xmlns:a16="http://schemas.microsoft.com/office/drawing/2014/main" id="{522ED98A-EE9B-4680-AC64-EF8EB7F29992}"/>
              </a:ext>
            </a:extLst>
          </p:cNvPr>
          <p:cNvSpPr>
            <a:spLocks xmlns:a="http://schemas.openxmlformats.org/drawingml/2006/main" noGrp="1"/>
          </p:cNvSpPr>
          <p:nvPr/>
        </p:nvSpPr>
        <p:spPr>
          <a:xfrm xmlns:a="http://schemas.openxmlformats.org/drawingml/2006/main">
            <a:off x="685800" y="55911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Анонимный ответ ограничен статусом, датой и попытками.</a:t>
            </a:r>
          </a:p>
        </p:txBody>
      </p:sp>
    </p:spTree>
    <p:extLst>
      <p:ext uri="{BB962C8B-B14F-4D97-AF65-F5344CB8AC3E}">
        <p14:creationId xmlns:p14="http://schemas.microsoft.com/office/powerpoint/2010/main" val="1069054411"/>
      </p:ext>
    </p:extLst>
  </p:cSld>
</p:sld>
</file>

<file path=ppt/slides/slide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00C46E-FAEA-4A5D-AC68-7A7DB55D55FC}"/>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048"/>
                </a:solidFill>
                <a:latin typeface="Helvetica Neue"/>
                <a:ea typeface="Helvetica Neue"/>
                <a:cs typeface="Helvetica Neue"/>
              </a:defRPr>
            </a:pPr>
            <a:r>
              <a:rPr sz="3600" b="1">
                <a:solidFill>
                  <a:srgbClr val="153048"/>
                </a:solidFill>
                <a:latin typeface="Helvetica Neue"/>
                <a:ea typeface="Helvetica Neue"/>
                <a:cs typeface="Helvetica Neue"/>
              </a:rPr>
              <a:t>Доступ к данным и функциям</a:t>
            </a:r>
          </a:p>
        </p:txBody>
      </p:sp>
      <p:sp>
        <p:nvSpPr>
          <p:cNvPr id="2" name="">
            <a:extLst xmlns:a="http://schemas.openxmlformats.org/drawingml/2006/main">
              <a:ext uri="{FF2B5EF4-FFF2-40B4-BE49-F238E27FC236}">
                <a16:creationId xmlns:a16="http://schemas.microsoft.com/office/drawing/2014/main" id="{BF337910-E991-4505-8C32-B5D549804B03}"/>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482"/>
                </a:solidFill>
                <a:latin typeface="Helvetica Neue"/>
                <a:ea typeface="Helvetica Neue"/>
                <a:cs typeface="Helvetica Neue"/>
              </a:defRPr>
            </a:pPr>
            <a:r>
              <a:rPr sz="1725" b="0">
                <a:solidFill>
                  <a:srgbClr val="657482"/>
                </a:solidFill>
                <a:latin typeface="Helvetica Neue"/>
                <a:ea typeface="Helvetica Neue"/>
                <a:cs typeface="Helvetica Neue"/>
              </a:rPr>
              <a:t>M2 · 4/6</a:t>
            </a:r>
          </a:p>
        </p:txBody>
      </p:sp>
      <p:sp>
        <p:nvSpPr>
          <p:cNvPr id="3" name="">
            <a:extLst xmlns:a="http://schemas.openxmlformats.org/drawingml/2006/main">
              <a:ext uri="{FF2B5EF4-FFF2-40B4-BE49-F238E27FC236}">
                <a16:creationId xmlns:a16="http://schemas.microsoft.com/office/drawing/2014/main" id="{2CFA13B3-4125-4D2F-B907-C66E51EF68BD}"/>
              </a:ext>
            </a:extLst>
          </p:cNvPr>
          <p:cNvSpPr>
            <a:spLocks xmlns:a="http://schemas.openxmlformats.org/drawingml/2006/main" noGrp="1"/>
          </p:cNvSpPr>
          <p:nvPr/>
        </p:nvSpPr>
        <p:spPr>
          <a:xfrm xmlns:a="http://schemas.openxmlformats.org/drawingml/2006/main">
            <a:off x="685800" y="182880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048"/>
                </a:solidFill>
                <a:latin typeface="Helvetica Neue"/>
                <a:ea typeface="Helvetica Neue"/>
                <a:cs typeface="Helvetica Neue"/>
              </a:defRPr>
            </a:pPr>
            <a:r>
              <a:rPr sz="2625" b="1">
                <a:solidFill>
                  <a:srgbClr val="153048"/>
                </a:solidFill>
                <a:latin typeface="Helvetica Neue"/>
                <a:ea typeface="Helvetica Neue"/>
                <a:cs typeface="Helvetica Neue"/>
              </a:rPr>
              <a:t>D-01: условие доступа в запросе к базе</a:t>
            </a:r>
          </a:p>
        </p:txBody>
      </p:sp>
      <p:sp>
        <p:nvSpPr>
          <p:cNvPr id="4" name="">
            <a:extLst xmlns:a="http://schemas.openxmlformats.org/drawingml/2006/main">
              <a:ext uri="{FF2B5EF4-FFF2-40B4-BE49-F238E27FC236}">
                <a16:creationId xmlns:a16="http://schemas.microsoft.com/office/drawing/2014/main" id="{E95304E8-4979-4988-B0D7-85C55E0C0ACF}"/>
              </a:ext>
            </a:extLst>
          </p:cNvPr>
          <p:cNvSpPr>
            <a:spLocks xmlns:a="http://schemas.openxmlformats.org/drawingml/2006/main" noGrp="1"/>
          </p:cNvSpPr>
          <p:nvPr/>
        </p:nvSpPr>
        <p:spPr>
          <a:xfrm xmlns:a="http://schemas.openxmlformats.org/drawingml/2006/main">
            <a:off x="685800" y="2505075"/>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T-01 / T-02 и SR-01 / SR-02</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Отправитель видит свои отправления.</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Курьер видит назначенные активные задания.</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Чужой и отсутствующий объект дают 404.</a:t>
            </a:r>
          </a:p>
        </p:txBody>
      </p:sp>
      <p:sp>
        <p:nvSpPr>
          <p:cNvPr id="5" name="">
            <a:extLst xmlns:a="http://schemas.openxmlformats.org/drawingml/2006/main">
              <a:ext uri="{FF2B5EF4-FFF2-40B4-BE49-F238E27FC236}">
                <a16:creationId xmlns:a16="http://schemas.microsoft.com/office/drawing/2014/main" id="{CF8FD386-2846-4B22-A9AC-50DDFDA0D2F9}"/>
              </a:ext>
            </a:extLst>
          </p:cNvPr>
          <p:cNvSpPr>
            <a:spLocks xmlns:a="http://schemas.openxmlformats.org/drawingml/2006/main" noGrp="1"/>
          </p:cNvSpPr>
          <p:nvPr/>
        </p:nvSpPr>
        <p:spPr>
          <a:xfrm xmlns:a="http://schemas.openxmlformats.org/drawingml/2006/main">
            <a:off x="685800" y="45529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048"/>
                </a:solidFill>
                <a:latin typeface="Helvetica Neue"/>
                <a:ea typeface="Helvetica Neue"/>
                <a:cs typeface="Helvetica Neue"/>
              </a:defRPr>
            </a:pPr>
            <a:r>
              <a:rPr sz="2625" b="1">
                <a:solidFill>
                  <a:srgbClr val="153048"/>
                </a:solidFill>
                <a:latin typeface="Helvetica Neue"/>
                <a:ea typeface="Helvetica Neue"/>
                <a:cs typeface="Helvetica Neue"/>
              </a:rPr>
              <a:t>D-02: роль назначает сервер</a:t>
            </a:r>
          </a:p>
        </p:txBody>
      </p:sp>
      <p:sp>
        <p:nvSpPr>
          <p:cNvPr id="6" name="">
            <a:extLst xmlns:a="http://schemas.openxmlformats.org/drawingml/2006/main">
              <a:ext uri="{FF2B5EF4-FFF2-40B4-BE49-F238E27FC236}">
                <a16:creationId xmlns:a16="http://schemas.microsoft.com/office/drawing/2014/main" id="{CABE087E-B0A9-4858-94E8-E73B4026DCAA}"/>
              </a:ext>
            </a:extLst>
          </p:cNvPr>
          <p:cNvSpPr>
            <a:spLocks xmlns:a="http://schemas.openxmlformats.org/drawingml/2006/main" noGrp="1"/>
          </p:cNvSpPr>
          <p:nvPr/>
        </p:nvSpPr>
        <p:spPr>
          <a:xfrm xmlns:a="http://schemas.openxmlformats.org/drawingml/2006/main">
            <a:off x="685800" y="515302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T-06 и SR-03</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Проверка роли дополняет проверку конкретного объекта.</a:t>
            </a:r>
          </a:p>
        </p:txBody>
      </p:sp>
    </p:spTree>
    <p:extLst>
      <p:ext uri="{BB962C8B-B14F-4D97-AF65-F5344CB8AC3E}">
        <p14:creationId xmlns:p14="http://schemas.microsoft.com/office/powerpoint/2010/main" val="1928623856"/>
      </p:ext>
    </p:extLst>
  </p:cSld>
</p:sld>
</file>

<file path=ppt/slides/slide5.xml><?xml version="1.0" encoding="utf-8"?>
<p:sld xmlns:p="http://schemas.openxmlformats.org/presentationml/2006/main">
  <p:cSld>
    <p:bg>
      <p:bgPr>
        <a:solidFill xmlns:a="http://schemas.openxmlformats.org/drawingml/2006/main">
          <a:srgbClr val="1022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96B136-9B67-4938-A575-7F18BCC913AE}"/>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D-03: защита кода получения</a:t>
            </a:r>
          </a:p>
        </p:txBody>
      </p:sp>
      <p:sp>
        <p:nvSpPr>
          <p:cNvPr id="2" name="">
            <a:extLst xmlns:a="http://schemas.openxmlformats.org/drawingml/2006/main">
              <a:ext uri="{FF2B5EF4-FFF2-40B4-BE49-F238E27FC236}">
                <a16:creationId xmlns:a16="http://schemas.microsoft.com/office/drawing/2014/main" id="{6436DC4F-5309-4CE1-96C7-61A2406C7530}"/>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5C1CD"/>
                </a:solidFill>
                <a:latin typeface="Helvetica Neue"/>
                <a:ea typeface="Helvetica Neue"/>
                <a:cs typeface="Helvetica Neue"/>
              </a:defRPr>
            </a:pPr>
            <a:r>
              <a:rPr sz="1725" b="0">
                <a:solidFill>
                  <a:srgbClr val="B5C1CD"/>
                </a:solidFill>
                <a:latin typeface="Helvetica Neue"/>
                <a:ea typeface="Helvetica Neue"/>
                <a:cs typeface="Helvetica Neue"/>
              </a:rPr>
              <a:t>M3 · 5/6</a:t>
            </a:r>
          </a:p>
        </p:txBody>
      </p:sp>
      <p:sp>
        <p:nvSpPr>
          <p:cNvPr id="3" name="">
            <a:extLst xmlns:a="http://schemas.openxmlformats.org/drawingml/2006/main">
              <a:ext uri="{FF2B5EF4-FFF2-40B4-BE49-F238E27FC236}">
                <a16:creationId xmlns:a16="http://schemas.microsoft.com/office/drawing/2014/main" id="{FCCA11E0-2F9D-45F8-A825-3CD37761E488}"/>
              </a:ext>
            </a:extLst>
          </p:cNvPr>
          <p:cNvSpPr>
            <a:spLocks xmlns:a="http://schemas.openxmlformats.org/drawingml/2006/main" noGrp="1"/>
          </p:cNvSpPr>
          <p:nvPr/>
        </p:nvSpPr>
        <p:spPr>
          <a:xfrm xmlns:a="http://schemas.openxmlformats.org/drawingml/2006/main">
            <a:off x="685800" y="1857375"/>
            <a:ext cx="1009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T-03: перебор</a:t>
            </a:r>
          </a:p>
          <a:p xmlns:a="http://schemas.openxmlformats.org/drawingml/2006/main">
            <a:pPr>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T-10: утечка кода</a:t>
            </a:r>
          </a:p>
        </p:txBody>
      </p:sp>
      <p:sp>
        <p:nvSpPr>
          <p:cNvPr id="4" name="">
            <a:extLst xmlns:a="http://schemas.openxmlformats.org/drawingml/2006/main">
              <a:ext uri="{FF2B5EF4-FFF2-40B4-BE49-F238E27FC236}">
                <a16:creationId xmlns:a16="http://schemas.microsoft.com/office/drawing/2014/main" id="{37B54067-6F67-4BAD-870D-4B0CAA827212}"/>
              </a:ext>
            </a:extLst>
          </p:cNvPr>
          <p:cNvSpPr>
            <a:spLocks xmlns:a="http://schemas.openxmlformats.org/drawingml/2006/main" noGrp="1"/>
          </p:cNvSpPr>
          <p:nvPr/>
        </p:nvSpPr>
        <p:spPr>
          <a:xfrm xmlns:a="http://schemas.openxmlformats.org/drawingml/2006/main">
            <a:off x="685800" y="323850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D9E2EB"/>
                </a:solidFill>
                <a:latin typeface="Helvetica Neue"/>
                <a:ea typeface="Helvetica Neue"/>
                <a:cs typeface="Helvetica Neue"/>
              </a:defRPr>
            </a:pPr>
            <a:r>
              <a:rPr sz="2400" b="0">
                <a:solidFill>
                  <a:srgbClr val="D9E2EB"/>
                </a:solidFill>
                <a:latin typeface="Helvetica Neue"/>
                <a:ea typeface="Helvetica Neue"/>
                <a:cs typeface="Helvetica Neue"/>
              </a:rPr>
              <a:t>SR-06: верный одноразовый код и 5 ошибок</a:t>
            </a:r>
          </a:p>
          <a:p xmlns:a="http://schemas.openxmlformats.org/drawingml/2006/main">
            <a:pPr>
              <a:defRPr sz="2400" b="0">
                <a:solidFill>
                  <a:srgbClr val="D9E2EB"/>
                </a:solidFill>
                <a:latin typeface="Helvetica Neue"/>
                <a:ea typeface="Helvetica Neue"/>
                <a:cs typeface="Helvetica Neue"/>
              </a:defRPr>
            </a:pPr>
            <a:r>
              <a:rPr sz="2400" b="0">
                <a:solidFill>
                  <a:srgbClr val="D9E2EB"/>
                </a:solidFill>
                <a:latin typeface="Helvetica Neue"/>
                <a:ea typeface="Helvetica Neue"/>
                <a:cs typeface="Helvetica Neue"/>
              </a:rPr>
              <a:t>SR-07: выдача владельцу, защита хранения</a:t>
            </a:r>
          </a:p>
        </p:txBody>
      </p:sp>
      <p:sp>
        <p:nvSpPr>
          <p:cNvPr id="5" name="">
            <a:extLst xmlns:a="http://schemas.openxmlformats.org/drawingml/2006/main">
              <a:ext uri="{FF2B5EF4-FFF2-40B4-BE49-F238E27FC236}">
                <a16:creationId xmlns:a16="http://schemas.microsoft.com/office/drawing/2014/main" id="{6E5C59D8-4884-4BF7-874E-E42C93540C44}"/>
              </a:ext>
            </a:extLst>
          </p:cNvPr>
          <p:cNvSpPr>
            <a:spLocks xmlns:a="http://schemas.openxmlformats.org/drawingml/2006/main" noGrp="1"/>
          </p:cNvSpPr>
          <p:nvPr/>
        </p:nvSpPr>
        <p:spPr>
          <a:xfrm xmlns:a="http://schemas.openxmlformats.org/drawingml/2006/main">
            <a:off x="685800" y="47910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D4AD66"/>
                </a:solidFill>
                <a:latin typeface="Helvetica Neue"/>
                <a:ea typeface="Helvetica Neue"/>
                <a:cs typeface="Helvetica Neue"/>
              </a:defRPr>
            </a:pPr>
            <a:r>
              <a:rPr sz="3375" b="1">
                <a:solidFill>
                  <a:srgbClr val="D4AD66"/>
                </a:solidFill>
                <a:latin typeface="Helvetica Neue"/>
                <a:ea typeface="Helvetica Neue"/>
                <a:cs typeface="Helvetica Neue"/>
              </a:rPr>
              <a:t>HMAC-SHA256</a:t>
            </a:r>
          </a:p>
        </p:txBody>
      </p:sp>
      <p:sp>
        <p:nvSpPr>
          <p:cNvPr id="6" name="">
            <a:extLst xmlns:a="http://schemas.openxmlformats.org/drawingml/2006/main">
              <a:ext uri="{FF2B5EF4-FFF2-40B4-BE49-F238E27FC236}">
                <a16:creationId xmlns:a16="http://schemas.microsoft.com/office/drawing/2014/main" id="{E29A7C10-D098-4A74-98C1-891DCACD8374}"/>
              </a:ext>
            </a:extLst>
          </p:cNvPr>
          <p:cNvSpPr>
            <a:spLocks xmlns:a="http://schemas.openxmlformats.org/drawingml/2006/main" noGrp="1"/>
          </p:cNvSpPr>
          <p:nvPr/>
        </p:nvSpPr>
        <p:spPr>
          <a:xfrm xmlns:a="http://schemas.openxmlformats.org/drawingml/2006/main">
            <a:off x="685800" y="54768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9E2EB"/>
                </a:solidFill>
                <a:latin typeface="Helvetica Neue"/>
                <a:ea typeface="Helvetica Neue"/>
                <a:cs typeface="Helvetica Neue"/>
              </a:defRPr>
            </a:pPr>
            <a:r>
              <a:rPr sz="1950" b="0">
                <a:solidFill>
                  <a:srgbClr val="D9E2EB"/>
                </a:solidFill>
                <a:latin typeface="Helvetica Neue"/>
                <a:ea typeface="Helvetica Neue"/>
                <a:cs typeface="Helvetica Neue"/>
              </a:rPr>
              <a:t>Идентификатор отправления + код + секретный ключ</a:t>
            </a:r>
          </a:p>
          <a:p xmlns:a="http://schemas.openxmlformats.org/drawingml/2006/main">
            <a:pPr>
              <a:defRPr sz="1950" b="0">
                <a:solidFill>
                  <a:srgbClr val="D9E2EB"/>
                </a:solidFill>
                <a:latin typeface="Helvetica Neue"/>
                <a:ea typeface="Helvetica Neue"/>
                <a:cs typeface="Helvetica Neue"/>
              </a:defRPr>
            </a:pPr>
            <a:r>
              <a:rPr sz="1950" b="0">
                <a:solidFill>
                  <a:srgbClr val="D9E2EB"/>
                </a:solidFill>
                <a:latin typeface="Helvetica Neue"/>
                <a:ea typeface="Helvetica Neue"/>
                <a:cs typeface="Helvetica Neue"/>
              </a:rPr>
              <a:t>Ключ хранится вне базы и репозитория.</a:t>
            </a:r>
          </a:p>
        </p:txBody>
      </p:sp>
    </p:spTree>
    <p:extLst>
      <p:ext uri="{BB962C8B-B14F-4D97-AF65-F5344CB8AC3E}">
        <p14:creationId xmlns:p14="http://schemas.microsoft.com/office/powerpoint/2010/main" val="1582324517"/>
      </p:ext>
    </p:extLst>
  </p:cSld>
</p:sld>
</file>

<file path=ppt/slides/slide6.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106D65-1355-49C0-BE76-44354C31B160}"/>
              </a:ext>
            </a:extLst>
          </p:cNvPr>
          <p:cNvSpPr>
            <a:spLocks xmlns:a="http://schemas.openxmlformats.org/drawingml/2006/main" noGrp="1"/>
          </p:cNvSpPr>
          <p:nvPr/>
        </p:nvSpPr>
        <p:spPr>
          <a:xfrm xmlns:a="http://schemas.openxmlformats.org/drawingml/2006/main">
            <a:off x="685800" y="5334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53048"/>
                </a:solidFill>
                <a:latin typeface="Helvetica Neue"/>
                <a:ea typeface="Helvetica Neue"/>
                <a:cs typeface="Helvetica Neue"/>
              </a:defRPr>
            </a:pPr>
            <a:r>
              <a:rPr sz="3600" b="1">
                <a:solidFill>
                  <a:srgbClr val="153048"/>
                </a:solidFill>
                <a:latin typeface="Helvetica Neue"/>
                <a:ea typeface="Helvetica Neue"/>
                <a:cs typeface="Helvetica Neue"/>
              </a:rPr>
              <a:t>Контрпример и будущая проверка</a:t>
            </a:r>
          </a:p>
        </p:txBody>
      </p:sp>
      <p:sp>
        <p:nvSpPr>
          <p:cNvPr id="2" name="">
            <a:extLst xmlns:a="http://schemas.openxmlformats.org/drawingml/2006/main">
              <a:ext uri="{FF2B5EF4-FFF2-40B4-BE49-F238E27FC236}">
                <a16:creationId xmlns:a16="http://schemas.microsoft.com/office/drawing/2014/main" id="{224CA300-338D-42EF-9482-A69744E8379C}"/>
              </a:ext>
            </a:extLst>
          </p:cNvPr>
          <p:cNvSpPr>
            <a:spLocks xmlns:a="http://schemas.openxmlformats.org/drawingml/2006/main" noGrp="1"/>
          </p:cNvSpPr>
          <p:nvPr/>
        </p:nvSpPr>
        <p:spPr>
          <a:xfrm xmlns:a="http://schemas.openxmlformats.org/drawingml/2006/main">
            <a:off x="685800" y="628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482"/>
                </a:solidFill>
                <a:latin typeface="Helvetica Neue"/>
                <a:ea typeface="Helvetica Neue"/>
                <a:cs typeface="Helvetica Neue"/>
              </a:defRPr>
            </a:pPr>
            <a:r>
              <a:rPr sz="1725" b="0">
                <a:solidFill>
                  <a:srgbClr val="657482"/>
                </a:solidFill>
                <a:latin typeface="Helvetica Neue"/>
                <a:ea typeface="Helvetica Neue"/>
                <a:cs typeface="Helvetica Neue"/>
              </a:rPr>
              <a:t>M3 · 6/6</a:t>
            </a:r>
          </a:p>
        </p:txBody>
      </p:sp>
      <p:sp>
        <p:nvSpPr>
          <p:cNvPr id="3" name="">
            <a:extLst xmlns:a="http://schemas.openxmlformats.org/drawingml/2006/main">
              <a:ext uri="{FF2B5EF4-FFF2-40B4-BE49-F238E27FC236}">
                <a16:creationId xmlns:a16="http://schemas.microsoft.com/office/drawing/2014/main" id="{6948C89F-48B4-46E0-A018-A39CFA0D8458}"/>
              </a:ext>
            </a:extLst>
          </p:cNvPr>
          <p:cNvSpPr>
            <a:spLocks xmlns:a="http://schemas.openxmlformats.org/drawingml/2006/main" noGrp="1"/>
          </p:cNvSpPr>
          <p:nvPr/>
        </p:nvSpPr>
        <p:spPr>
          <a:xfrm xmlns:a="http://schemas.openxmlformats.org/drawingml/2006/main">
            <a:off x="685800" y="18097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048"/>
                </a:solidFill>
                <a:latin typeface="Helvetica Neue"/>
                <a:ea typeface="Helvetica Neue"/>
                <a:cs typeface="Helvetica Neue"/>
              </a:defRPr>
            </a:pPr>
            <a:r>
              <a:rPr sz="2400" b="1">
                <a:solidFill>
                  <a:srgbClr val="153048"/>
                </a:solidFill>
                <a:latin typeface="Helvetica Neue"/>
                <a:ea typeface="Helvetica Neue"/>
                <a:cs typeface="Helvetica Neue"/>
              </a:rPr>
              <a:t>Постоянный показ кода</a:t>
            </a:r>
          </a:p>
        </p:txBody>
      </p:sp>
      <p:sp>
        <p:nvSpPr>
          <p:cNvPr id="4" name="">
            <a:extLst xmlns:a="http://schemas.openxmlformats.org/drawingml/2006/main">
              <a:ext uri="{FF2B5EF4-FFF2-40B4-BE49-F238E27FC236}">
                <a16:creationId xmlns:a16="http://schemas.microsoft.com/office/drawing/2014/main" id="{09065A23-E028-4A1D-B00A-3FA95600B0D0}"/>
              </a:ext>
            </a:extLst>
          </p:cNvPr>
          <p:cNvSpPr>
            <a:spLocks xmlns:a="http://schemas.openxmlformats.org/drawingml/2006/main" noGrp="1"/>
          </p:cNvSpPr>
          <p:nvPr/>
        </p:nvSpPr>
        <p:spPr>
          <a:xfrm xmlns:a="http://schemas.openxmlformats.org/drawingml/2006/main">
            <a:off x="685800" y="2419350"/>
            <a:ext cx="5381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Нужен восстановимый код.</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Ошибка карточки может</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раскрыть действующие коды.</a:t>
            </a:r>
          </a:p>
        </p:txBody>
      </p:sp>
      <p:sp>
        <p:nvSpPr>
          <p:cNvPr id="5" name="">
            <a:extLst xmlns:a="http://schemas.openxmlformats.org/drawingml/2006/main">
              <a:ext uri="{FF2B5EF4-FFF2-40B4-BE49-F238E27FC236}">
                <a16:creationId xmlns:a16="http://schemas.microsoft.com/office/drawing/2014/main" id="{989D8214-0BAE-4BD9-A692-74A3791D9D01}"/>
              </a:ext>
            </a:extLst>
          </p:cNvPr>
          <p:cNvSpPr>
            <a:spLocks xmlns:a="http://schemas.openxmlformats.org/drawingml/2006/main" noGrp="1"/>
          </p:cNvSpPr>
          <p:nvPr/>
        </p:nvSpPr>
        <p:spPr>
          <a:xfrm xmlns:a="http://schemas.openxmlformats.org/drawingml/2006/main">
            <a:off x="6715125" y="1809750"/>
            <a:ext cx="481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53048"/>
                </a:solidFill>
                <a:latin typeface="Helvetica Neue"/>
                <a:ea typeface="Helvetica Neue"/>
                <a:cs typeface="Helvetica Neue"/>
              </a:defRPr>
            </a:pPr>
            <a:r>
              <a:rPr sz="2400" b="1">
                <a:solidFill>
                  <a:srgbClr val="153048"/>
                </a:solidFill>
                <a:latin typeface="Helvetica Neue"/>
                <a:ea typeface="Helvetica Neue"/>
                <a:cs typeface="Helvetica Neue"/>
              </a:rPr>
              <a:t>Одноразовый показ</a:t>
            </a:r>
          </a:p>
        </p:txBody>
      </p:sp>
      <p:sp>
        <p:nvSpPr>
          <p:cNvPr id="6" name="">
            <a:extLst xmlns:a="http://schemas.openxmlformats.org/drawingml/2006/main">
              <a:ext uri="{FF2B5EF4-FFF2-40B4-BE49-F238E27FC236}">
                <a16:creationId xmlns:a16="http://schemas.microsoft.com/office/drawing/2014/main" id="{8A711D65-E339-49CD-8B87-4D2BD8F5316F}"/>
              </a:ext>
            </a:extLst>
          </p:cNvPr>
          <p:cNvSpPr>
            <a:spLocks xmlns:a="http://schemas.openxmlformats.org/drawingml/2006/main" noGrp="1"/>
          </p:cNvSpPr>
          <p:nvPr/>
        </p:nvSpPr>
        <p:spPr>
          <a:xfrm xmlns:a="http://schemas.openxmlformats.org/drawingml/2006/main">
            <a:off x="6715125" y="2419350"/>
            <a:ext cx="4810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Храним HMAC.</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Потеря кода требует</a:t>
            </a:r>
          </a:p>
          <a:p xmlns:a="http://schemas.openxmlformats.org/drawingml/2006/main">
            <a:pPr>
              <a:defRPr sz="2175" b="0">
                <a:solidFill>
                  <a:srgbClr val="153048"/>
                </a:solidFill>
                <a:latin typeface="Helvetica Neue"/>
                <a:ea typeface="Helvetica Neue"/>
                <a:cs typeface="Helvetica Neue"/>
              </a:defRPr>
            </a:pPr>
            <a:r>
              <a:rPr sz="2175" b="0">
                <a:solidFill>
                  <a:srgbClr val="153048"/>
                </a:solidFill>
                <a:latin typeface="Helvetica Neue"/>
                <a:ea typeface="Helvetica Neue"/>
                <a:cs typeface="Helvetica Neue"/>
              </a:rPr>
              <a:t>перевыпуска владельцем.</a:t>
            </a:r>
          </a:p>
        </p:txBody>
      </p:sp>
      <p:sp>
        <p:nvSpPr>
          <p:cNvPr id="7" name="">
            <a:extLst xmlns:a="http://schemas.openxmlformats.org/drawingml/2006/main">
              <a:ext uri="{FF2B5EF4-FFF2-40B4-BE49-F238E27FC236}">
                <a16:creationId xmlns:a16="http://schemas.microsoft.com/office/drawing/2014/main" id="{41F9E24F-4791-4AAE-8FCE-DF3B4394BD73}"/>
              </a:ext>
            </a:extLst>
          </p:cNvPr>
          <p:cNvSpPr>
            <a:spLocks xmlns:a="http://schemas.openxmlformats.org/drawingml/2006/main" noGrp="1"/>
          </p:cNvSpPr>
          <p:nvPr/>
        </p:nvSpPr>
        <p:spPr>
          <a:xfrm xmlns:a="http://schemas.openxmlformats.org/drawingml/2006/main">
            <a:off x="685800" y="4162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3048"/>
                </a:solidFill>
                <a:latin typeface="Helvetica Neue"/>
                <a:ea typeface="Helvetica Neue"/>
                <a:cs typeface="Helvetica Neue"/>
              </a:defRPr>
            </a:pPr>
            <a:r>
              <a:rPr sz="2550" b="1">
                <a:solidFill>
                  <a:srgbClr val="153048"/>
                </a:solidFill>
                <a:latin typeface="Helvetica Neue"/>
                <a:ea typeface="Helvetica Neue"/>
                <a:cs typeface="Helvetica Neue"/>
              </a:rPr>
              <a:t>Проверим лимит и одновременные запросы</a:t>
            </a:r>
          </a:p>
        </p:txBody>
      </p:sp>
      <p:sp>
        <p:nvSpPr>
          <p:cNvPr id="8" name="">
            <a:extLst xmlns:a="http://schemas.openxmlformats.org/drawingml/2006/main">
              <a:ext uri="{FF2B5EF4-FFF2-40B4-BE49-F238E27FC236}">
                <a16:creationId xmlns:a16="http://schemas.microsoft.com/office/drawing/2014/main" id="{E23A4043-36BE-495A-80F5-1E66DBBA8430}"/>
              </a:ext>
            </a:extLst>
          </p:cNvPr>
          <p:cNvSpPr>
            <a:spLocks xmlns:a="http://schemas.openxmlformats.org/drawingml/2006/main" noGrp="1"/>
          </p:cNvSpPr>
          <p:nvPr/>
        </p:nvSpPr>
        <p:spPr>
          <a:xfrm xmlns:a="http://schemas.openxmlformats.org/drawingml/2006/main">
            <a:off x="685800" y="4886325"/>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53048"/>
                </a:solidFill>
                <a:latin typeface="Helvetica Neue"/>
                <a:ea typeface="Helvetica Neue"/>
                <a:cs typeface="Helvetica Neue"/>
              </a:defRPr>
            </a:pPr>
            <a:r>
              <a:rPr sz="2100" b="0">
                <a:solidFill>
                  <a:srgbClr val="153048"/>
                </a:solidFill>
                <a:latin typeface="Helvetica Neue"/>
                <a:ea typeface="Helvetica Neue"/>
                <a:cs typeface="Helvetica Neue"/>
              </a:rPr>
              <a:t>10 неверных запросов одновременно: не больше 5 ошибок.</a:t>
            </a:r>
          </a:p>
          <a:p xmlns:a="http://schemas.openxmlformats.org/drawingml/2006/main">
            <a:pPr>
              <a:defRPr sz="2100" b="0">
                <a:solidFill>
                  <a:srgbClr val="153048"/>
                </a:solidFill>
                <a:latin typeface="Helvetica Neue"/>
                <a:ea typeface="Helvetica Neue"/>
                <a:cs typeface="Helvetica Neue"/>
              </a:defRPr>
            </a:pPr>
            <a:r>
              <a:rPr sz="2100" b="0">
                <a:solidFill>
                  <a:srgbClr val="153048"/>
                </a:solidFill>
                <a:latin typeface="Helvetica Neue"/>
                <a:ea typeface="Helvetica Neue"/>
                <a:cs typeface="Helvetica Neue"/>
              </a:rPr>
              <a:t>Перевыпуск сохраняет счётчик и отменяет прежний код.</a:t>
            </a:r>
          </a:p>
          <a:p xmlns:a="http://schemas.openxmlformats.org/drawingml/2006/main">
            <a:pPr>
              <a:defRPr sz="2100" b="0">
                <a:solidFill>
                  <a:srgbClr val="153048"/>
                </a:solidFill>
                <a:latin typeface="Helvetica Neue"/>
                <a:ea typeface="Helvetica Neue"/>
                <a:cs typeface="Helvetica Neue"/>
              </a:defRPr>
            </a:pPr>
            <a:r>
              <a:rPr sz="2100" b="0">
                <a:solidFill>
                  <a:srgbClr val="153048"/>
                </a:solidFill>
                <a:latin typeface="Helvetica Neue"/>
                <a:ea typeface="Helvetica Neue"/>
                <a:cs typeface="Helvetica Neue"/>
              </a:rPr>
              <a:t>Забор и отмена: один переход и одна запись журнала.</a:t>
            </a:r>
          </a:p>
        </p:txBody>
      </p:sp>
    </p:spTree>
    <p:extLst>
      <p:ext uri="{BB962C8B-B14F-4D97-AF65-F5344CB8AC3E}">
        <p14:creationId xmlns:p14="http://schemas.microsoft.com/office/powerpoint/2010/main" val="767742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2026-10-04T17:20:30.9750000Z</dcterms:created>
  <dcterms:modified xsi:type="dcterms:W3CDTF">2026-10-04T17:20:30.9750000Z</dcterms:modified>
</coreProperties>
</file>